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A141A"/>
            </a:gs>
            <a:gs pos="100000">
              <a:srgbClr val="1C2B36"/>
            </a:gs>
          </a:gsLst>
          <a:lin scaled="0" ang="18900000"/>
        </a:gradFill>
        <a:effectLst/>
      </p:bgPr>
    </p:bg>
    <p:spTree>
      <p:nvGrpSpPr>
        <p:cNvPr id="1" name=""/>
        <p:cNvGrpSpPr/>
        <p:nvPr/>
      </p:nvGrpSpPr>
      <p:grpSpPr/>
      <p:sp>
        <p:nvSpPr>
          <p:cNvPr id="2" name="Oval 1"/>
          <p:cNvSpPr/>
          <p:nvPr/>
        </p:nvSpPr>
        <p:spPr>
          <a:xfrm>
            <a:off x="9814529" y="-1828800"/>
            <a:ext cx="4754880" cy="4754880"/>
          </a:xfrm>
          <a:prstGeom prst="ellipse">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46049" cy="1371600"/>
          </a:xfrm>
          <a:prstGeom prst="rect">
            <a:avLst/>
          </a:prstGeom>
          <a:noFill/>
        </p:spPr>
        <p:txBody>
          <a:bodyPr wrap="square">
            <a:spAutoFit/>
          </a:bodyPr>
          <a:lstStyle/>
          <a:p>
            <a:pPr algn="l">
              <a:defRPr sz="4200" b="1">
                <a:solidFill>
                  <a:srgbClr val="FFFFFF"/>
                </a:solidFill>
                <a:latin typeface="Century Gothic"/>
              </a:defRPr>
            </a:pPr>
            <a:r>
              <a:t>Python asoslari</a:t>
            </a:r>
          </a:p>
        </p:txBody>
      </p:sp>
      <p:sp>
        <p:nvSpPr>
          <p:cNvPr id="4" name="Rectangle 3"/>
          <p:cNvSpPr/>
          <p:nvPr/>
        </p:nvSpPr>
        <p:spPr>
          <a:xfrm>
            <a:off x="868680" y="1783080"/>
            <a:ext cx="1280160" cy="508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2103120"/>
            <a:ext cx="1371600" cy="457200"/>
          </a:xfrm>
          <a:prstGeom prst="round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Calibri"/>
              </a:defRPr>
            </a:pPr>
            <a:r>
              <a:t>REJA</a:t>
            </a:r>
          </a:p>
        </p:txBody>
      </p:sp>
      <p:sp>
        <p:nvSpPr>
          <p:cNvPr id="6" name="Oval 5"/>
          <p:cNvSpPr/>
          <p:nvPr/>
        </p:nvSpPr>
        <p:spPr>
          <a:xfrm>
            <a:off x="822960" y="29443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1</a:t>
            </a:r>
          </a:p>
        </p:txBody>
      </p:sp>
      <p:sp>
        <p:nvSpPr>
          <p:cNvPr id="7" name="TextBox 6"/>
          <p:cNvSpPr txBox="1"/>
          <p:nvPr/>
        </p:nvSpPr>
        <p:spPr>
          <a:xfrm>
            <a:off x="1417320" y="2880360"/>
            <a:ext cx="9814529" cy="406400"/>
          </a:xfrm>
          <a:prstGeom prst="rect">
            <a:avLst/>
          </a:prstGeom>
          <a:noFill/>
        </p:spPr>
        <p:txBody>
          <a:bodyPr wrap="square" anchor="ctr">
            <a:spAutoFit/>
          </a:bodyPr>
          <a:lstStyle/>
          <a:p>
            <a:pPr algn="l">
              <a:defRPr sz="1200">
                <a:solidFill>
                  <a:srgbClr val="FFFFFF"/>
                </a:solidFill>
                <a:latin typeface="Calibri"/>
              </a:defRPr>
            </a:pPr>
            <a:r>
              <a:t>Kirish</a:t>
            </a:r>
          </a:p>
        </p:txBody>
      </p:sp>
      <p:sp>
        <p:nvSpPr>
          <p:cNvPr id="8" name="Oval 7"/>
          <p:cNvSpPr/>
          <p:nvPr/>
        </p:nvSpPr>
        <p:spPr>
          <a:xfrm>
            <a:off x="822960" y="33507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2</a:t>
            </a:r>
          </a:p>
        </p:txBody>
      </p:sp>
      <p:sp>
        <p:nvSpPr>
          <p:cNvPr id="9" name="TextBox 8"/>
          <p:cNvSpPr txBox="1"/>
          <p:nvPr/>
        </p:nvSpPr>
        <p:spPr>
          <a:xfrm>
            <a:off x="1417320" y="3286760"/>
            <a:ext cx="9814529" cy="406400"/>
          </a:xfrm>
          <a:prstGeom prst="rect">
            <a:avLst/>
          </a:prstGeom>
          <a:noFill/>
        </p:spPr>
        <p:txBody>
          <a:bodyPr wrap="square" anchor="ctr">
            <a:spAutoFit/>
          </a:bodyPr>
          <a:lstStyle/>
          <a:p>
            <a:pPr algn="l">
              <a:defRPr sz="1200">
                <a:solidFill>
                  <a:srgbClr val="FFFFFF"/>
                </a:solidFill>
                <a:latin typeface="Calibri"/>
              </a:defRPr>
            </a:pPr>
            <a:r>
              <a:t>Asosiy tushunchalar: o‘zgaruvchilar, ma’lumot turlari, operatorlar</a:t>
            </a:r>
          </a:p>
        </p:txBody>
      </p:sp>
      <p:sp>
        <p:nvSpPr>
          <p:cNvPr id="10" name="Oval 9"/>
          <p:cNvSpPr/>
          <p:nvPr/>
        </p:nvSpPr>
        <p:spPr>
          <a:xfrm>
            <a:off x="822960" y="37571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3</a:t>
            </a:r>
          </a:p>
        </p:txBody>
      </p:sp>
      <p:sp>
        <p:nvSpPr>
          <p:cNvPr id="11" name="TextBox 10"/>
          <p:cNvSpPr txBox="1"/>
          <p:nvPr/>
        </p:nvSpPr>
        <p:spPr>
          <a:xfrm>
            <a:off x="1417320" y="3693160"/>
            <a:ext cx="9814529" cy="406400"/>
          </a:xfrm>
          <a:prstGeom prst="rect">
            <a:avLst/>
          </a:prstGeom>
          <a:noFill/>
        </p:spPr>
        <p:txBody>
          <a:bodyPr wrap="square" anchor="ctr">
            <a:spAutoFit/>
          </a:bodyPr>
          <a:lstStyle/>
          <a:p>
            <a:pPr algn="l">
              <a:defRPr sz="1200">
                <a:solidFill>
                  <a:srgbClr val="FFFFFF"/>
                </a:solidFill>
                <a:latin typeface="Calibri"/>
              </a:defRPr>
            </a:pPr>
            <a:r>
              <a:t>Python tarixi va rivojlanishi</a:t>
            </a:r>
          </a:p>
        </p:txBody>
      </p:sp>
      <p:sp>
        <p:nvSpPr>
          <p:cNvPr id="12" name="Oval 11"/>
          <p:cNvSpPr/>
          <p:nvPr/>
        </p:nvSpPr>
        <p:spPr>
          <a:xfrm>
            <a:off x="822960" y="41635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4</a:t>
            </a:r>
          </a:p>
        </p:txBody>
      </p:sp>
      <p:sp>
        <p:nvSpPr>
          <p:cNvPr id="13" name="TextBox 12"/>
          <p:cNvSpPr txBox="1"/>
          <p:nvPr/>
        </p:nvSpPr>
        <p:spPr>
          <a:xfrm>
            <a:off x="1417320" y="4099560"/>
            <a:ext cx="9814529" cy="406400"/>
          </a:xfrm>
          <a:prstGeom prst="rect">
            <a:avLst/>
          </a:prstGeom>
          <a:noFill/>
        </p:spPr>
        <p:txBody>
          <a:bodyPr wrap="square" anchor="ctr">
            <a:spAutoFit/>
          </a:bodyPr>
          <a:lstStyle/>
          <a:p>
            <a:pPr algn="l">
              <a:defRPr sz="1200">
                <a:solidFill>
                  <a:srgbClr val="FFFFFF"/>
                </a:solidFill>
                <a:latin typeface="Calibri"/>
              </a:defRPr>
            </a:pPr>
            <a:r>
              <a:t>Dasturlash muhitini o‘rnatish va sozlash</a:t>
            </a:r>
          </a:p>
        </p:txBody>
      </p:sp>
      <p:sp>
        <p:nvSpPr>
          <p:cNvPr id="14" name="Oval 13"/>
          <p:cNvSpPr/>
          <p:nvPr/>
        </p:nvSpPr>
        <p:spPr>
          <a:xfrm>
            <a:off x="822960" y="45699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5</a:t>
            </a:r>
          </a:p>
        </p:txBody>
      </p:sp>
      <p:sp>
        <p:nvSpPr>
          <p:cNvPr id="15" name="TextBox 14"/>
          <p:cNvSpPr txBox="1"/>
          <p:nvPr/>
        </p:nvSpPr>
        <p:spPr>
          <a:xfrm>
            <a:off x="1417320" y="4505960"/>
            <a:ext cx="9814529" cy="406400"/>
          </a:xfrm>
          <a:prstGeom prst="rect">
            <a:avLst/>
          </a:prstGeom>
          <a:noFill/>
        </p:spPr>
        <p:txBody>
          <a:bodyPr wrap="square" anchor="ctr">
            <a:spAutoFit/>
          </a:bodyPr>
          <a:lstStyle/>
          <a:p>
            <a:pPr algn="l">
              <a:defRPr sz="1200">
                <a:solidFill>
                  <a:srgbClr val="FFFFFF"/>
                </a:solidFill>
                <a:latin typeface="Calibri"/>
              </a:defRPr>
            </a:pPr>
            <a:r>
              <a:t>Sintaksis va nazorat strukturalari</a:t>
            </a:r>
          </a:p>
        </p:txBody>
      </p:sp>
      <p:sp>
        <p:nvSpPr>
          <p:cNvPr id="16" name="Oval 15"/>
          <p:cNvSpPr/>
          <p:nvPr/>
        </p:nvSpPr>
        <p:spPr>
          <a:xfrm>
            <a:off x="822960" y="49763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6</a:t>
            </a:r>
          </a:p>
        </p:txBody>
      </p:sp>
      <p:sp>
        <p:nvSpPr>
          <p:cNvPr id="17" name="TextBox 16"/>
          <p:cNvSpPr txBox="1"/>
          <p:nvPr/>
        </p:nvSpPr>
        <p:spPr>
          <a:xfrm>
            <a:off x="1417320" y="4912360"/>
            <a:ext cx="9814529" cy="406400"/>
          </a:xfrm>
          <a:prstGeom prst="rect">
            <a:avLst/>
          </a:prstGeom>
          <a:noFill/>
        </p:spPr>
        <p:txBody>
          <a:bodyPr wrap="square" anchor="ctr">
            <a:spAutoFit/>
          </a:bodyPr>
          <a:lstStyle/>
          <a:p>
            <a:pPr algn="l">
              <a:defRPr sz="1200">
                <a:solidFill>
                  <a:srgbClr val="FFFFFF"/>
                </a:solidFill>
                <a:latin typeface="Calibri"/>
              </a:defRPr>
            </a:pPr>
            <a:r>
              <a:t>Ma’lumot strukturalari: list, tuple, dict, set</a:t>
            </a:r>
          </a:p>
        </p:txBody>
      </p:sp>
      <p:sp>
        <p:nvSpPr>
          <p:cNvPr id="18" name="Oval 17"/>
          <p:cNvSpPr/>
          <p:nvPr/>
        </p:nvSpPr>
        <p:spPr>
          <a:xfrm>
            <a:off x="822960" y="53827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7</a:t>
            </a:r>
          </a:p>
        </p:txBody>
      </p:sp>
      <p:sp>
        <p:nvSpPr>
          <p:cNvPr id="19" name="TextBox 18"/>
          <p:cNvSpPr txBox="1"/>
          <p:nvPr/>
        </p:nvSpPr>
        <p:spPr>
          <a:xfrm>
            <a:off x="1417320" y="5318760"/>
            <a:ext cx="9814529" cy="406400"/>
          </a:xfrm>
          <a:prstGeom prst="rect">
            <a:avLst/>
          </a:prstGeom>
          <a:noFill/>
        </p:spPr>
        <p:txBody>
          <a:bodyPr wrap="square" anchor="ctr">
            <a:spAutoFit/>
          </a:bodyPr>
          <a:lstStyle/>
          <a:p>
            <a:pPr algn="l">
              <a:defRPr sz="1200">
                <a:solidFill>
                  <a:srgbClr val="FFFFFF"/>
                </a:solidFill>
                <a:latin typeface="Calibri"/>
              </a:defRPr>
            </a:pPr>
            <a:r>
              <a:t>Funksiyalar, modul va paketlar</a:t>
            </a:r>
          </a:p>
        </p:txBody>
      </p:sp>
      <p:sp>
        <p:nvSpPr>
          <p:cNvPr id="20" name="Oval 19"/>
          <p:cNvSpPr/>
          <p:nvPr/>
        </p:nvSpPr>
        <p:spPr>
          <a:xfrm>
            <a:off x="822960" y="57891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8</a:t>
            </a:r>
          </a:p>
        </p:txBody>
      </p:sp>
      <p:sp>
        <p:nvSpPr>
          <p:cNvPr id="21" name="TextBox 20"/>
          <p:cNvSpPr txBox="1"/>
          <p:nvPr/>
        </p:nvSpPr>
        <p:spPr>
          <a:xfrm>
            <a:off x="1417320" y="5725160"/>
            <a:ext cx="9814529" cy="406400"/>
          </a:xfrm>
          <a:prstGeom prst="rect">
            <a:avLst/>
          </a:prstGeom>
          <a:noFill/>
        </p:spPr>
        <p:txBody>
          <a:bodyPr wrap="square" anchor="ctr">
            <a:spAutoFit/>
          </a:bodyPr>
          <a:lstStyle/>
          <a:p>
            <a:pPr algn="l">
              <a:defRPr sz="1200">
                <a:solidFill>
                  <a:srgbClr val="FFFFFF"/>
                </a:solidFill>
                <a:latin typeface="Calibri"/>
              </a:defRPr>
            </a:pPr>
            <a:r>
              <a:t>Amaliy misol: oddiy kalkulyator dasturi</a:t>
            </a:r>
          </a:p>
        </p:txBody>
      </p:sp>
      <p:sp>
        <p:nvSpPr>
          <p:cNvPr id="22" name="Oval 21"/>
          <p:cNvSpPr/>
          <p:nvPr/>
        </p:nvSpPr>
        <p:spPr>
          <a:xfrm>
            <a:off x="822960" y="6195568"/>
            <a:ext cx="278384" cy="278384"/>
          </a:xfrm>
          <a:prstGeom prst="ellipse">
            <a:avLst/>
          </a:prstGeom>
          <a:solidFill>
            <a:srgbClr val="26C6D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9</a:t>
            </a:r>
          </a:p>
        </p:txBody>
      </p:sp>
      <p:sp>
        <p:nvSpPr>
          <p:cNvPr id="23" name="TextBox 22"/>
          <p:cNvSpPr txBox="1"/>
          <p:nvPr/>
        </p:nvSpPr>
        <p:spPr>
          <a:xfrm>
            <a:off x="1417320" y="6131560"/>
            <a:ext cx="9814529" cy="406400"/>
          </a:xfrm>
          <a:prstGeom prst="rect">
            <a:avLst/>
          </a:prstGeom>
          <a:noFill/>
        </p:spPr>
        <p:txBody>
          <a:bodyPr wrap="square" anchor="ctr">
            <a:spAutoFit/>
          </a:bodyPr>
          <a:lstStyle/>
          <a:p>
            <a:pPr algn="l">
              <a:defRPr sz="1200">
                <a:solidFill>
                  <a:srgbClr val="FFFFFF"/>
                </a:solidFill>
                <a:latin typeface="Calibri"/>
              </a:defRPr>
            </a:pPr>
            <a:r>
              <a:t>Xulosa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1</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1C2B36"/>
                </a:solidFill>
                <a:latin typeface="Century Gothic"/>
              </a:defRPr>
            </a:pPr>
            <a:r>
              <a:t>Kirish</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900">
                <a:solidFill>
                  <a:srgbClr val="141D22"/>
                </a:solidFill>
                <a:latin typeface="Calibri"/>
              </a:defRPr>
            </a:pPr>
            <a:r>
              <a:t>Kirish Python – 1991‑yilda Guido van Rossum tomonidan yaratilgan, yuqori darajadagi, umumiy maqsadli dasturlash tili bo‘lib, o‘zining “kodni o‘qish oson” falsafasiga asoslanadi. 2023‑yil oktabr oyida chiqarilgan Python 3.12 versiyasi bilan tilning ishlash tezligi 15 % gacha oshdi, bu esa uni ilmiy‑tadqiqot, veb‑dasturlash, sun‘iy intellekt va ma’lumotlar tahlili sohalarida yetakchi texnologiyalardan biriga aylantiradi. Pythonning platforma mustaqilligi (Windows, Linux, macOS, iOS, Android) va keng kutubxona ekotizimi (NumPy, pandas, Django, TensorFlow) uni yangi boshlovchilar hamda tajribali dasturchilar uchun ideal tanlovga aylantiradi. Ushbu taqdimotda Python asoslarini bosqichma‑bosqich o‘rganib, amaliy misollar orqali tilning asosiy imkoniyatlarini ko‘rib chiqamiz.</a:t>
            </a:r>
          </a:p>
          <a:p>
            <a:pPr algn="just">
              <a:lnSpc>
                <a:spcPct val="120000"/>
              </a:lnSpc>
              <a:spcAft>
                <a:spcPts val="900"/>
              </a:spcAft>
              <a:defRPr sz="1900">
                <a:solidFill>
                  <a:srgbClr val="141D22"/>
                </a:solidFill>
                <a:latin typeface="Calibri"/>
              </a:defRPr>
            </a:pPr>
            <a:r>
              <a:t>Dars oxirida ishtirokchilar oddiy kalkulyator dasturini yaratish orqali o‘z bilimlarini mustahkamlashlari kutiladi.</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2</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400" b="1">
                <a:solidFill>
                  <a:srgbClr val="1C2B36"/>
                </a:solidFill>
                <a:latin typeface="Century Gothic"/>
              </a:defRPr>
            </a:pPr>
            <a:r>
              <a:t>Asosiy tushunchalar: o‘zgaruvchilar, ma’lumot turlari, operatorlar</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900">
                <a:solidFill>
                  <a:srgbClr val="141D22"/>
                </a:solidFill>
                <a:latin typeface="Calibri"/>
              </a:defRPr>
            </a:pPr>
            <a:r>
              <a:t>Asosiy tushunchalar: o‘zgaruvchilar, ma’lumot turlari, operatorlar Python’da ma’lumotlar o‘zgaruvchilar orqali saqlanadi; o‘zgaruvchi nomi harflar, raqamlar va “_” belgisidan iborat bo‘lishi mumkin, lekin raqam bilan boshlanmasligi shart. Misol: `son = 10`. Python dinamik tipizatsiyaga ega, ya’ni o‘zgaruvchining tipi deklaratsiya qilinmaydi, bajarilish vaqtida aniqlanadi. Asosiy ma’lumot turlari: `int` (butun son, masalan, 42), `float` (o‘nlik son, 3.14), `bool` (True/False), `str` (matn, "Salom"). Operatorlar arifmetik (`+`, `-`, ``, `/`, `//`, `%`, ``), taqqoslash (`==`, `!=`, `&lt;`, `&gt;`, `&lt;=`, `&gt;=`) va mantiqiy (`and`, `or`, `not`) bo‘lib, ular orqali ifodalar quriladi. Misol: `yangi_son = son  2 + 5`.</a:t>
            </a:r>
          </a:p>
          <a:p>
            <a:pPr algn="just">
              <a:lnSpc>
                <a:spcPct val="120000"/>
              </a:lnSpc>
              <a:spcAft>
                <a:spcPts val="900"/>
              </a:spcAft>
              <a:defRPr sz="1900">
                <a:solidFill>
                  <a:srgbClr val="141D22"/>
                </a:solidFill>
                <a:latin typeface="Calibri"/>
              </a:defRPr>
            </a:pPr>
            <a:r>
              <a:t>Python’da satrlarni birlashtirish uchun `+` operatori yoki f‑string (`f"Natija: {yangi_son}"`) qo‘llanadi. Shuningdek, `type()` funksiyasi orqali o‘zgaruvchining tipini tekshirish mumkin: `type(yangi_son)   &lt;class 'int'&gt;`. Bu tushunchalar keyingi bo‘limlarda yanada chuqurroq ko‘rib chiqiladi.</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3</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1C2B36"/>
                </a:solidFill>
                <a:latin typeface="Century Gothic"/>
              </a:defRPr>
            </a:pPr>
            <a:r>
              <a:t>Python tarixi va rivojlanishi</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800">
                <a:solidFill>
                  <a:srgbClr val="141D22"/>
                </a:solidFill>
                <a:latin typeface="Calibri"/>
              </a:defRPr>
            </a:pPr>
            <a:r>
              <a:t>Python tarixi va rivojlanishi Python 1989‑yilda Hollandiya universitetida Guido van Rossum tomonidan “ABC” tilining kamchiliklarini bartaraf etish maqsadida ishlab chiqildi. Birinchi rasmiy versiya 0.9.0 1991‑yil dekabr oyida chiqarildi, unda modul tizimi, istisnolar va funksiyalar mavjud edi. 2000‑yilda Python 2.0 chiqdi, bu versiyada list comprehension, garbage collection kabi yangi imkoniyatlar qo‘shildi. 2008‑yilda Python 3.0 (tartibga solingan versiya) e’lon qilindi; bu versiyada `print` funksiyasi, Unicode qo‘llab‑quvvatlash va `xrange` o‘rniga `range` kiritildi. 2020‑yilda Python 3.9 chiqarildi, unda dictionary order saqlash, string metodlari kengaytirilgan. 2022‑yilda Python 3.11 chiqdi, JIT‑like optimizatsiyalar tufayli bajarilish tezligi 10‑15 % ga oshdi.</a:t>
            </a:r>
          </a:p>
          <a:p>
            <a:pPr algn="just">
              <a:lnSpc>
                <a:spcPct val="120000"/>
              </a:lnSpc>
              <a:spcAft>
                <a:spcPts val="900"/>
              </a:spcAft>
              <a:defRPr sz="1800">
                <a:solidFill>
                  <a:srgbClr val="141D22"/>
                </a:solidFill>
                <a:latin typeface="Calibri"/>
              </a:defRPr>
            </a:pPr>
            <a:r>
              <a:t>Hozirda Python jamoasi har yili bir necha baravar yangilanadi, 2024‑yil yanvar oyida 3.12.1 beta versiyasi sinovdan o‘tkazilmoqda. Pythonning kengayib boruvchi ekotizimi, GitHub’da 2,5 milliondan ortiq repozitoriyalar va Stack Overflow’da 1,8 milliondan ziyod savol javoblari tilning dunyo bo‘ylab qabul qilinishini tasdiqlaydi.</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4</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1C2B36"/>
                </a:solidFill>
                <a:latin typeface="Century Gothic"/>
              </a:defRPr>
            </a:pPr>
            <a:r>
              <a:t>Dasturlash muhitini o‘rnatish va sozlash</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700">
                <a:solidFill>
                  <a:srgbClr val="141D22"/>
                </a:solidFill>
                <a:latin typeface="Calibri"/>
              </a:defRPr>
            </a:pPr>
            <a:r>
              <a:t>Dasturlash muhitini o‘rnatish va sozlash Pythonni o‘rnatish uchun rasmiy saytdan (python.org) Windows, macOS yoki Linux uchun installer yuklab olish kifoya. Windows’da “Add Python to PATH” opsiyasini belgilash tavsiya etiladi, bu orqali terminalda `python` yoki `python3` buyrug‘i bilan interpreterga kirish mumkin. Linux distributivlarida `sudo apt-get install python3` (Debian/Ubuntu) yoki `sudo dnf install python3` (Fedora) buyruqlari orqali o‘rnatiladi. IDE sifatida VS Code, PyCharm Community, Jupyter Notebook yoki IDLE (standart) tanlanadi. VS Code’da “Python” kengaytmasi o‘rnatilganda IntelliSense, linting (pylint) va virtual muhit (venv) boshqaruvi avtomatik qo‘llab‑quvvatlanadi.</a:t>
            </a:r>
          </a:p>
          <a:p>
            <a:pPr algn="just">
              <a:lnSpc>
                <a:spcPct val="120000"/>
              </a:lnSpc>
              <a:spcAft>
                <a:spcPts val="800"/>
              </a:spcAft>
              <a:defRPr sz="1700">
                <a:solidFill>
                  <a:srgbClr val="141D22"/>
                </a:solidFill>
                <a:latin typeface="Calibri"/>
              </a:defRPr>
            </a:pPr>
            <a:r>
              <a:t>Virtual muhit yaratish: `python -m venv myenv`; aktivatsiya: Windows – `myenv\Scripts\activate`, Linux/macOS – `source myenv/bin/activate`. Bu izolyatsiya paketlar versiyalarini boshqarish imkonini beradi, ayniqsa `pip install numpy pandas matplotlib` kabi kutubxonalarni loyihaga moslashtirishda muhim. Paket menejeri `pip` Python paket indeksidan (PyPI) paketlarni yuklab olishga xizmat qiladi; misol: `pip install requests`. Muvofiqlikni tekshirish uchun `python --version` (masalan, Python 3.12.0) va `pip list` buyrug‘lari ishlatiladi.</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5</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1C2B36"/>
                </a:solidFill>
                <a:latin typeface="Century Gothic"/>
              </a:defRPr>
            </a:pPr>
            <a:r>
              <a:t>Sintaksis va nazorat strukturalari</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900">
                <a:solidFill>
                  <a:srgbClr val="141D22"/>
                </a:solidFill>
                <a:latin typeface="Calibri"/>
              </a:defRPr>
            </a:pPr>
            <a:r>
              <a:t>Sintaksis va nazorat strukturalari Python kodlari bloklarni indentatsiya (to‘rt bo‘shliq yoki tab) orqali belgilaydi, qavslar o‘rniga bu usul qo‘llaniladi, bu kodni o‘qish va xatoliklarni kamaytiradi. Shartli operator `if … elif … else` orqali qarorlar qabul qilinadi: ```python if yosh &lt; 18: print("Voyaga yetmagansiz") elif yosh &lt; 65: print("Ishchi yoshda") else: print("Pensiyaga chiqqansiz") ``` Tsikllar `for` (iteratsiya) va `while` (shartga asoslangan) mavjud. Misol: `for i in range(1, 6): print(i)` 1‑dan 5‑gacha sonlarni chiqaradi. `break` tsiklni to‘xtatadi, `continue` esa keyingi iteratsiyaga o'tadi.</a:t>
            </a:r>
          </a:p>
          <a:p>
            <a:pPr algn="just">
              <a:lnSpc>
                <a:spcPct val="120000"/>
              </a:lnSpc>
              <a:spcAft>
                <a:spcPts val="900"/>
              </a:spcAft>
              <a:defRPr sz="1900">
                <a:solidFill>
                  <a:srgbClr val="141D22"/>
                </a:solidFill>
                <a:latin typeface="Calibri"/>
              </a:defRPr>
            </a:pPr>
            <a:r>
              <a:t>Istisnolarni ushlash `try … except … finally` bloklari orqali amalga oshiriladi: ```python try: fayl = open('ma\'lumot.txt', 'r') ma'lumot = fayl.read() except FileNotFoundError as e: print("Fayl topilmadi:", e) finally: fayl.close() ``` Bu strukturalar dastur oqimini nazorat qilish, xatoliklarni barqaror ushlash va foydalanuvchi bilan interaktiv aloqani ta'minlashda muhim rol o‘ynaydi.</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6</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1C2B36"/>
                </a:solidFill>
                <a:latin typeface="Century Gothic"/>
              </a:defRPr>
            </a:pPr>
            <a:r>
              <a:t>Ma’lumot strukturalari: list, tuple, dict, set</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700">
                <a:solidFill>
                  <a:srgbClr val="141D22"/>
                </a:solidFill>
                <a:latin typeface="Calibri"/>
              </a:defRPr>
            </a:pPr>
            <a:r>
              <a:t>Ma’lumot strukturalari: list, tuple, dict, set Python’da eng ko‘p ishlatiladigan ma’lumot strukturalari to‘rt turga bo‘linadi. List o‘zgarmas (mutable) ketma‑ketlik bo‘lib, kvadrat qavslar `[]` bilan yaratiladi: `sonlar = [1, 2, 3, 4]`. Element qo‘shish `append()`, o‘chirish `remove()`, indeks orqali kirish `sonlar[2]` (natija 3). Tuple o‘zgarmas (immutable) ketma‑ketlik, dumaloq qavslar `()` bilan ifodalanadi: `nuqtalar = (10, 20)`. Tuple elementlarini o‘zgartirib bo‘lmaydi, lekin bir nechta qiymatni funksiyadan qaytarishda qulay. Dictionary kalit‑qiymat juftliklari, egri qavslar `{}` bilan yaratiladi: `talaba = {'ism':'Ali', 'yosh':20}`. Kalit orqali qiymatga murojaat: `talaba['ism']`. `keys()`, `values()`, `items()` metodlari orqali barcha kalitlar, qiymatlar yoki juftliklar olinadi.</a:t>
            </a:r>
          </a:p>
          <a:p>
            <a:pPr algn="just">
              <a:lnSpc>
                <a:spcPct val="120000"/>
              </a:lnSpc>
              <a:spcAft>
                <a:spcPts val="800"/>
              </a:spcAft>
              <a:defRPr sz="1700">
                <a:solidFill>
                  <a:srgbClr val="141D22"/>
                </a:solidFill>
                <a:latin typeface="Calibri"/>
              </a:defRPr>
            </a:pPr>
            <a:r>
              <a:t>Set noyob elementlar to‘plami, egri qavslar `{}` yoki `set()` bilan yaratiladi: `ranglar = {'qizil', 'ko‘k', 'yashil'}`. Setga `add()`, `remove()` metodlari qo‘llanadi, matematik amallar (birikma `|`, kesishma `&amp;`, farq `-`) qo‘llab‑quvvatlanadi. Misol: `{'a', 'b'} | {'b', 'c'}   {'a', 'b', 'c'}`. Bu strukturalar ma’lumotlarni samarali saqlash, izlash va manipulyatsiya qilish imkonini beradi.</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7</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1C2B36"/>
                </a:solidFill>
                <a:latin typeface="Century Gothic"/>
              </a:defRPr>
            </a:pPr>
            <a:r>
              <a:t>Funksiyalar, modul va paketlar</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800">
                <a:solidFill>
                  <a:srgbClr val="141D22"/>
                </a:solidFill>
                <a:latin typeface="Calibri"/>
              </a:defRPr>
            </a:pPr>
            <a:r>
              <a:t>Funksiyalar, modul va paketlar Funksiya – kodni qayta ishlatish va modulatsiya qilishning asosiy vositasi. `def` kalit so‘zi yordamida yaratiladi: ```python def kvadrat(x): """Berilgan sonning kvadratini qaytaradi""" return x  x ``` Argumentlar pozitsion, kalitli yoki default qiymatga ega bo‘lishi mumkin: `def salom(ism='Dunyo')`. Funksiyalar birinchi darajali obyektlar bo‘lgani uchun ularni o‘zgaruvchilarga tayinlash, ro‘yxatga qo‘shish yoki boshqa funksiyaga argument sifatida berish mumkin (`higher_order`). Modullar – alohida `.py` fayllar, ular `import` operatori orqali chaqiriladi: `import math` yoki `from math import sqrt`. Paket – bir nechta modulni birlashtiruvchi katalog, `__init__.py` fayli bilan belgilanadi.</a:t>
            </a:r>
          </a:p>
          <a:p>
            <a:pPr algn="just">
              <a:lnSpc>
                <a:spcPct val="120000"/>
              </a:lnSpc>
              <a:spcAft>
                <a:spcPts val="900"/>
              </a:spcAft>
              <a:defRPr sz="1800">
                <a:solidFill>
                  <a:srgbClr val="141D22"/>
                </a:solidFill>
                <a:latin typeface="Calibri"/>
              </a:defRPr>
            </a:pPr>
            <a:r>
              <a:t>Masalan, `numpy` paketini `import numpy as np` tarzida ishlatish ma’lumotlar tahlili uchun qulay. Virtual muhitda `pip install numpy` orqali paket o‘rnatiladi. Funksiyalar, modullar va paketlar kodni modularlashtiradi, testlashni osonlashtiradi va jamoaviy ishlab chiqishda konfliktlarni kamaytiradi.</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8</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1C2B36"/>
                </a:solidFill>
                <a:latin typeface="Century Gothic"/>
              </a:defRPr>
            </a:pPr>
            <a:r>
              <a:t>Amaliy misol: oddiy kalkulyator dasturi</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900"/>
              </a:spcAft>
              <a:defRPr sz="1800">
                <a:solidFill>
                  <a:srgbClr val="141D22"/>
                </a:solidFill>
                <a:latin typeface="Calibri"/>
              </a:defRPr>
            </a:pPr>
            <a:r>
              <a:t>Amaliy misol: oddiy kalkulyator dasturi Quyidagi kod foydalanuvchidan ikki son va arifmetik amalni qabul qilib, natijani chiqaradi: ```python def kalkulyator(): print("Oddiy kalkulyatorga xush kelibsiz") a = float(input("Birinchi sonni kiriting: ")) b = float(input("Ikkinchi sonni kiriting: ")) amal = input("Amalni tanlang (+, -, , /): ").strip() if amal == '+': natija = a + b elif amal == '-': natija = a - b elif amal == '': natija = a  b elif amal == '/': if b == 0: print("Nolga bo‘lish mumkin emas!") return natija = a / b else: print("Noto‘g‘ri amal tanlandi") return print(f"Natija: {natija}") if __name__ == "__main__": kalkulyator() ``` Bu dastur `if __name__ == "__main__"` shartini qo‘llash orqali modul sifatida import qilinsa ham, mustaqil ravishda ishlashini ta’minlaydi.</a:t>
            </a:r>
          </a:p>
          <a:p>
            <a:pPr algn="just">
              <a:lnSpc>
                <a:spcPct val="120000"/>
              </a:lnSpc>
              <a:spcAft>
                <a:spcPts val="900"/>
              </a:spcAft>
              <a:defRPr sz="1800">
                <a:solidFill>
                  <a:srgbClr val="141D22"/>
                </a:solidFill>
                <a:latin typeface="Calibri"/>
              </a:defRPr>
            </a:pPr>
            <a:r>
              <a:t>Kiritilgan ma’lumotlar `float` tipiga o‘tkaziladi, bu butun va onlik sonlarni qamrab oladi. Xatolikni tekshirish (`b == 0`) orqali foydalanuvchi tajribasini yaxshilash mumkin. Darsda bu kodni bosqichma‑bosqich tahlil qilib, har bir qatorning maqsadi tushuntiriladi, shuningdek, `try/except` bilan yanada mustahkam versiyasini yaratish mashq qilinadi.</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69" cy="128016"/>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502920" cy="502920"/>
          </a:xfrm>
          <a:prstGeom prst="ellipse">
            <a:avLst/>
          </a:prstGeom>
          <a:solidFill>
            <a:srgbClr val="1C2B3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9</a:t>
            </a:r>
          </a:p>
        </p:txBody>
      </p:sp>
      <p:sp>
        <p:nvSpPr>
          <p:cNvPr id="4" name="TextBox 3"/>
          <p:cNvSpPr txBox="1"/>
          <p:nvPr/>
        </p:nvSpPr>
        <p:spPr>
          <a:xfrm>
            <a:off x="1371600" y="411480"/>
            <a:ext cx="10180289" cy="777240"/>
          </a:xfrm>
          <a:prstGeom prst="rect">
            <a:avLst/>
          </a:prstGeom>
          <a:noFill/>
        </p:spPr>
        <p:txBody>
          <a:bodyPr wrap="square" anchor="ctr">
            <a:spAutoFit/>
          </a:bodyPr>
          <a:lstStyle/>
          <a:p>
            <a:pPr algn="l">
              <a:defRPr sz="2600" b="1">
                <a:solidFill>
                  <a:srgbClr val="1C2B36"/>
                </a:solidFill>
                <a:latin typeface="Century Gothic"/>
              </a:defRPr>
            </a:pPr>
            <a:r>
              <a:t>Xulosa</a:t>
            </a:r>
          </a:p>
        </p:txBody>
      </p:sp>
      <p:sp>
        <p:nvSpPr>
          <p:cNvPr id="5" name="Rectangle 4"/>
          <p:cNvSpPr/>
          <p:nvPr/>
        </p:nvSpPr>
        <p:spPr>
          <a:xfrm>
            <a:off x="640080" y="1188720"/>
            <a:ext cx="822960" cy="381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11809" cy="4709160"/>
          </a:xfrm>
          <a:prstGeom prst="rect">
            <a:avLst/>
          </a:prstGeom>
          <a:noFill/>
        </p:spPr>
        <p:txBody>
          <a:bodyPr wrap="square">
            <a:spAutoFit/>
          </a:bodyPr>
          <a:lstStyle/>
          <a:p/>
          <a:p>
            <a:pPr algn="just">
              <a:lnSpc>
                <a:spcPct val="120000"/>
              </a:lnSpc>
              <a:spcAft>
                <a:spcPts val="800"/>
              </a:spcAft>
              <a:defRPr sz="1700">
                <a:solidFill>
                  <a:srgbClr val="141D22"/>
                </a:solidFill>
                <a:latin typeface="Calibri"/>
              </a:defRPr>
            </a:pPr>
            <a:r>
              <a:t>Xulosa Python asoslari – o‘zgaruvchilar, ma’lumot turlari, nazorat strukturalari, ma’lumot strukturalari, funksiyalar, modul va paketlar kabi fundamental tushunchalar dasturlashning mustahkam poydevorini tashkil etadi. Tilning soddaligi, keng kutubxonalar ekotizimi va platforma mustaqilligi uni nafaqat boshlang‘ich darajadagi o‘quvchilar, balki ma’lumotlar ilm-fani, sun‘iy intellekt, veb‑xizmatlar va avtomatlashtirish sohalarida ham qo‘llashga imkon beradi. Ushbu taqdimotda keltirilgan misollar – oddiy kalkulyator, list va dictionary operatsiyalari – amaliyotda tezda qo‘llaniladigan kod fragmentlari bo‘lib, talabalarga mustaqil loyihalar yaratish uchun zarur asosni beradi.</a:t>
            </a:r>
          </a:p>
          <a:p>
            <a:pPr algn="just">
              <a:lnSpc>
                <a:spcPct val="120000"/>
              </a:lnSpc>
              <a:spcAft>
                <a:spcPts val="800"/>
              </a:spcAft>
              <a:defRPr sz="1700">
                <a:solidFill>
                  <a:srgbClr val="141D22"/>
                </a:solidFill>
                <a:latin typeface="Calibri"/>
              </a:defRPr>
            </a:pPr>
            <a:r>
              <a:t>Kelgusida Python 3.13 versiyasining chiqishi bilan yangi pattern matching, tip annotatsiyalari va performans yaxshilanishlari kutilmoqda; shu bilan birga, jamoaviy loyihalarda kodni standartlashtirish (PEP 8) va test yozish (unittest, pytest) kabi metodologiyalarni ham o‘rganish tavsiya etiladi. Pythonni chuqurroq o‘rganish orqali talabalar zamonaviy IT bozorida raqobatbardosh bo‘lishlari, innovatsion mahsulotlar yaratishlari va ilmiy izlanishlarda samarali vosita sifatida foydalanishlari mumkin.</a:t>
            </a:r>
          </a:p>
        </p:txBody>
      </p:sp>
      <p:sp>
        <p:nvSpPr>
          <p:cNvPr id="7" name="Rectangle 6"/>
          <p:cNvSpPr/>
          <p:nvPr/>
        </p:nvSpPr>
        <p:spPr>
          <a:xfrm>
            <a:off x="548640" y="6355080"/>
            <a:ext cx="11094689" cy="15240"/>
          </a:xfrm>
          <a:prstGeom prst="rect">
            <a:avLst/>
          </a:prstGeom>
          <a:solidFill>
            <a:srgbClr val="A4A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19088"/>
            <a:ext cx="10728929" cy="320040"/>
          </a:xfrm>
          <a:prstGeom prst="rect">
            <a:avLst/>
          </a:prstGeom>
          <a:noFill/>
        </p:spPr>
        <p:txBody>
          <a:bodyPr wrap="none">
            <a:spAutoFit/>
          </a:bodyPr>
          <a:lstStyle/>
          <a:p>
            <a:pPr algn="l">
              <a:defRPr sz="1100">
                <a:solidFill>
                  <a:srgbClr val="7C929C"/>
                </a:solidFill>
                <a:latin typeface="Calibri"/>
              </a:defRPr>
            </a:pPr>
            <a:r>
              <a:t>Python asoslari</a:t>
            </a:r>
          </a:p>
        </p:txBody>
      </p:sp>
      <p:sp>
        <p:nvSpPr>
          <p:cNvPr id="9" name="TextBox 8"/>
          <p:cNvSpPr txBox="1"/>
          <p:nvPr/>
        </p:nvSpPr>
        <p:spPr>
          <a:xfrm>
            <a:off x="11094689" y="6419088"/>
            <a:ext cx="548640" cy="320040"/>
          </a:xfrm>
          <a:prstGeom prst="rect">
            <a:avLst/>
          </a:prstGeom>
          <a:noFill/>
        </p:spPr>
        <p:txBody>
          <a:bodyPr wrap="none">
            <a:spAutoFit/>
          </a:bodyPr>
          <a:lstStyle/>
          <a:p>
            <a:pPr algn="r">
              <a:defRPr sz="1100">
                <a:solidFill>
                  <a:srgbClr val="7C929C"/>
                </a:solidFill>
                <a:latin typeface="Calibri"/>
              </a:defRPr>
            </a:pPr>
            <a: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C2B36"/>
            </a:gs>
            <a:gs pos="100000">
              <a:srgbClr val="0A141A"/>
            </a:gs>
          </a:gsLst>
          <a:lin scaled="0" ang="8100000"/>
        </a:gradFill>
        <a:effectLst/>
      </p:bgPr>
    </p:bg>
    <p:spTree>
      <p:nvGrpSpPr>
        <p:cNvPr id="1" name=""/>
        <p:cNvGrpSpPr/>
        <p:nvPr/>
      </p:nvGrpSpPr>
      <p:grpSpPr/>
      <p:sp>
        <p:nvSpPr>
          <p:cNvPr id="2" name="Oval 1"/>
          <p:cNvSpPr/>
          <p:nvPr/>
        </p:nvSpPr>
        <p:spPr>
          <a:xfrm>
            <a:off x="9265889" y="3931920"/>
            <a:ext cx="4389120" cy="4389120"/>
          </a:xfrm>
          <a:prstGeom prst="ellipse">
            <a:avLst/>
          </a:prstGeom>
          <a:solidFill>
            <a:srgbClr val="FFFF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097280"/>
            <a:ext cx="2926080" cy="2926080"/>
          </a:xfrm>
          <a:prstGeom prst="ellipse">
            <a:avLst/>
          </a:prstGeom>
          <a:solidFill>
            <a:srgbClr val="26C6DA">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363169" cy="1188720"/>
          </a:xfrm>
          <a:prstGeom prst="rect">
            <a:avLst/>
          </a:prstGeom>
          <a:noFill/>
        </p:spPr>
        <p:txBody>
          <a:bodyPr wrap="none">
            <a:spAutoFit/>
          </a:bodyPr>
          <a:lstStyle/>
          <a:p>
            <a:pPr algn="ctr">
              <a:defRPr sz="5400" b="1">
                <a:solidFill>
                  <a:srgbClr val="FFFFFF"/>
                </a:solidFill>
                <a:latin typeface="Century Gothic"/>
              </a:defRPr>
            </a:pPr>
            <a:r>
              <a:t>RAHMAT!</a:t>
            </a:r>
          </a:p>
        </p:txBody>
      </p:sp>
      <p:sp>
        <p:nvSpPr>
          <p:cNvPr id="5" name="Rectangle 4"/>
          <p:cNvSpPr/>
          <p:nvPr/>
        </p:nvSpPr>
        <p:spPr>
          <a:xfrm>
            <a:off x="5410184" y="3429000"/>
            <a:ext cx="1371600" cy="50800"/>
          </a:xfrm>
          <a:prstGeom prst="rect">
            <a:avLst/>
          </a:prstGeom>
          <a:solidFill>
            <a:srgbClr val="26C6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57600"/>
            <a:ext cx="10363169" cy="640080"/>
          </a:xfrm>
          <a:prstGeom prst="rect">
            <a:avLst/>
          </a:prstGeom>
          <a:noFill/>
        </p:spPr>
        <p:txBody>
          <a:bodyPr wrap="none">
            <a:spAutoFit/>
          </a:bodyPr>
          <a:lstStyle/>
          <a:p>
            <a:pPr algn="ctr">
              <a:defRPr sz="2000">
                <a:solidFill>
                  <a:srgbClr val="67D7E5"/>
                </a:solidFill>
                <a:latin typeface="Calibri"/>
              </a:defRPr>
            </a:pPr>
            <a:r>
              <a:t>Python asoslari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