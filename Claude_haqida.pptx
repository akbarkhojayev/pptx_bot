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96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gradFill rotWithShape="1">
          <a:gsLst>
            <a:gs pos="0">
              <a:srgbClr val="072A5E"/>
            </a:gs>
            <a:gs pos="100000">
              <a:srgbClr val="0D47A1"/>
            </a:gs>
          </a:gsLst>
          <a:lin scaled="0" ang="18900000"/>
        </a:gradFill>
        <a:effectLst/>
      </p:bgPr>
    </p:bg>
    <p:spTree>
      <p:nvGrpSpPr>
        <p:cNvPr id="1" name=""/>
        <p:cNvGrpSpPr/>
        <p:nvPr/>
      </p:nvGrpSpPr>
      <p:grpSpPr/>
      <p:sp>
        <p:nvSpPr>
          <p:cNvPr id="2" name="Oval 1"/>
          <p:cNvSpPr/>
          <p:nvPr/>
        </p:nvSpPr>
        <p:spPr>
          <a:xfrm>
            <a:off x="9814529" y="-1828800"/>
            <a:ext cx="4754880" cy="4754880"/>
          </a:xfrm>
          <a:prstGeom prst="ellipse">
            <a:avLst/>
          </a:prstGeom>
          <a:solidFill>
            <a:srgbClr val="FFFFFF">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546049" cy="1371600"/>
          </a:xfrm>
          <a:prstGeom prst="rect">
            <a:avLst/>
          </a:prstGeom>
          <a:noFill/>
        </p:spPr>
        <p:txBody>
          <a:bodyPr wrap="square">
            <a:spAutoFit/>
          </a:bodyPr>
          <a:lstStyle/>
          <a:p>
            <a:pPr algn="l">
              <a:defRPr sz="4200" b="1">
                <a:solidFill>
                  <a:srgbClr val="FFFFFF"/>
                </a:solidFill>
                <a:latin typeface="Century Gothic"/>
              </a:defRPr>
            </a:pPr>
            <a:r>
              <a:t>Claude haqida</a:t>
            </a:r>
          </a:p>
        </p:txBody>
      </p:sp>
      <p:sp>
        <p:nvSpPr>
          <p:cNvPr id="4" name="Rectangle 3"/>
          <p:cNvSpPr/>
          <p:nvPr/>
        </p:nvSpPr>
        <p:spPr>
          <a:xfrm>
            <a:off x="868680" y="1783080"/>
            <a:ext cx="1280160" cy="50800"/>
          </a:xfrm>
          <a:prstGeom prst="rect">
            <a:avLst/>
          </a:prstGeom>
          <a:solidFill>
            <a:srgbClr val="29B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2103120"/>
            <a:ext cx="1371600" cy="457200"/>
          </a:xfrm>
          <a:prstGeom prst="roundRect">
            <a:avLst/>
          </a:prstGeom>
          <a:solidFill>
            <a:srgbClr val="29B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Calibri"/>
              </a:defRPr>
            </a:pPr>
            <a:r>
              <a:t>REJA</a:t>
            </a:r>
          </a:p>
        </p:txBody>
      </p:sp>
      <p:sp>
        <p:nvSpPr>
          <p:cNvPr id="6" name="Oval 5"/>
          <p:cNvSpPr/>
          <p:nvPr/>
        </p:nvSpPr>
        <p:spPr>
          <a:xfrm>
            <a:off x="822960" y="2944368"/>
            <a:ext cx="278384" cy="278384"/>
          </a:xfrm>
          <a:prstGeom prst="ellipse">
            <a:avLst/>
          </a:prstGeom>
          <a:solidFill>
            <a:srgbClr val="29B6F6"/>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t>1</a:t>
            </a:r>
          </a:p>
        </p:txBody>
      </p:sp>
      <p:sp>
        <p:nvSpPr>
          <p:cNvPr id="7" name="TextBox 6"/>
          <p:cNvSpPr txBox="1"/>
          <p:nvPr/>
        </p:nvSpPr>
        <p:spPr>
          <a:xfrm>
            <a:off x="1417320" y="2880360"/>
            <a:ext cx="9814529" cy="406400"/>
          </a:xfrm>
          <a:prstGeom prst="rect">
            <a:avLst/>
          </a:prstGeom>
          <a:noFill/>
        </p:spPr>
        <p:txBody>
          <a:bodyPr wrap="square" anchor="ctr">
            <a:spAutoFit/>
          </a:bodyPr>
          <a:lstStyle/>
          <a:p>
            <a:pPr algn="l">
              <a:defRPr sz="1200">
                <a:solidFill>
                  <a:srgbClr val="FFFFFF"/>
                </a:solidFill>
                <a:latin typeface="Calibri"/>
              </a:defRPr>
            </a:pPr>
            <a:r>
              <a:t>Kirish va umumiy ma’lumot</a:t>
            </a:r>
          </a:p>
        </p:txBody>
      </p:sp>
      <p:sp>
        <p:nvSpPr>
          <p:cNvPr id="8" name="Oval 7"/>
          <p:cNvSpPr/>
          <p:nvPr/>
        </p:nvSpPr>
        <p:spPr>
          <a:xfrm>
            <a:off x="822960" y="3350768"/>
            <a:ext cx="278384" cy="278384"/>
          </a:xfrm>
          <a:prstGeom prst="ellipse">
            <a:avLst/>
          </a:prstGeom>
          <a:solidFill>
            <a:srgbClr val="29B6F6"/>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t>2</a:t>
            </a:r>
          </a:p>
        </p:txBody>
      </p:sp>
      <p:sp>
        <p:nvSpPr>
          <p:cNvPr id="9" name="TextBox 8"/>
          <p:cNvSpPr txBox="1"/>
          <p:nvPr/>
        </p:nvSpPr>
        <p:spPr>
          <a:xfrm>
            <a:off x="1417320" y="3286760"/>
            <a:ext cx="9814529" cy="406400"/>
          </a:xfrm>
          <a:prstGeom prst="rect">
            <a:avLst/>
          </a:prstGeom>
          <a:noFill/>
        </p:spPr>
        <p:txBody>
          <a:bodyPr wrap="square" anchor="ctr">
            <a:spAutoFit/>
          </a:bodyPr>
          <a:lstStyle/>
          <a:p>
            <a:pPr algn="l">
              <a:defRPr sz="1200">
                <a:solidFill>
                  <a:srgbClr val="FFFFFF"/>
                </a:solidFill>
                <a:latin typeface="Calibri"/>
              </a:defRPr>
            </a:pPr>
            <a:r>
              <a:t>Claude’ni yaratishdagi muammo va ehtiyoj</a:t>
            </a:r>
          </a:p>
        </p:txBody>
      </p:sp>
      <p:sp>
        <p:nvSpPr>
          <p:cNvPr id="10" name="Oval 9"/>
          <p:cNvSpPr/>
          <p:nvPr/>
        </p:nvSpPr>
        <p:spPr>
          <a:xfrm>
            <a:off x="822960" y="3757168"/>
            <a:ext cx="278384" cy="278384"/>
          </a:xfrm>
          <a:prstGeom prst="ellipse">
            <a:avLst/>
          </a:prstGeom>
          <a:solidFill>
            <a:srgbClr val="29B6F6"/>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t>3</a:t>
            </a:r>
          </a:p>
        </p:txBody>
      </p:sp>
      <p:sp>
        <p:nvSpPr>
          <p:cNvPr id="11" name="TextBox 10"/>
          <p:cNvSpPr txBox="1"/>
          <p:nvPr/>
        </p:nvSpPr>
        <p:spPr>
          <a:xfrm>
            <a:off x="1417320" y="3693160"/>
            <a:ext cx="9814529" cy="406400"/>
          </a:xfrm>
          <a:prstGeom prst="rect">
            <a:avLst/>
          </a:prstGeom>
          <a:noFill/>
        </p:spPr>
        <p:txBody>
          <a:bodyPr wrap="square" anchor="ctr">
            <a:spAutoFit/>
          </a:bodyPr>
          <a:lstStyle/>
          <a:p>
            <a:pPr algn="l">
              <a:defRPr sz="1200">
                <a:solidFill>
                  <a:srgbClr val="FFFFFF"/>
                </a:solidFill>
                <a:latin typeface="Calibri"/>
              </a:defRPr>
            </a:pPr>
            <a:r>
              <a:t>“Konstitutsiyaviy AI” yondashuvi – yechim sifatida Claude</a:t>
            </a:r>
          </a:p>
        </p:txBody>
      </p:sp>
      <p:sp>
        <p:nvSpPr>
          <p:cNvPr id="12" name="Oval 11"/>
          <p:cNvSpPr/>
          <p:nvPr/>
        </p:nvSpPr>
        <p:spPr>
          <a:xfrm>
            <a:off x="822960" y="4163568"/>
            <a:ext cx="278384" cy="278384"/>
          </a:xfrm>
          <a:prstGeom prst="ellipse">
            <a:avLst/>
          </a:prstGeom>
          <a:solidFill>
            <a:srgbClr val="29B6F6"/>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t>4</a:t>
            </a:r>
          </a:p>
        </p:txBody>
      </p:sp>
      <p:sp>
        <p:nvSpPr>
          <p:cNvPr id="13" name="TextBox 12"/>
          <p:cNvSpPr txBox="1"/>
          <p:nvPr/>
        </p:nvSpPr>
        <p:spPr>
          <a:xfrm>
            <a:off x="1417320" y="4099560"/>
            <a:ext cx="9814529" cy="406400"/>
          </a:xfrm>
          <a:prstGeom prst="rect">
            <a:avLst/>
          </a:prstGeom>
          <a:noFill/>
        </p:spPr>
        <p:txBody>
          <a:bodyPr wrap="square" anchor="ctr">
            <a:spAutoFit/>
          </a:bodyPr>
          <a:lstStyle/>
          <a:p>
            <a:pPr algn="l">
              <a:defRPr sz="1200">
                <a:solidFill>
                  <a:srgbClr val="FFFFFF"/>
                </a:solidFill>
                <a:latin typeface="Calibri"/>
              </a:defRPr>
            </a:pPr>
            <a:r>
              <a:t>Bozor va qo‘llanilish sohalari</a:t>
            </a:r>
          </a:p>
        </p:txBody>
      </p:sp>
      <p:sp>
        <p:nvSpPr>
          <p:cNvPr id="14" name="Oval 13"/>
          <p:cNvSpPr/>
          <p:nvPr/>
        </p:nvSpPr>
        <p:spPr>
          <a:xfrm>
            <a:off x="822960" y="4569968"/>
            <a:ext cx="278384" cy="278384"/>
          </a:xfrm>
          <a:prstGeom prst="ellipse">
            <a:avLst/>
          </a:prstGeom>
          <a:solidFill>
            <a:srgbClr val="29B6F6"/>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t>5</a:t>
            </a:r>
          </a:p>
        </p:txBody>
      </p:sp>
      <p:sp>
        <p:nvSpPr>
          <p:cNvPr id="15" name="TextBox 14"/>
          <p:cNvSpPr txBox="1"/>
          <p:nvPr/>
        </p:nvSpPr>
        <p:spPr>
          <a:xfrm>
            <a:off x="1417320" y="4505960"/>
            <a:ext cx="9814529" cy="406400"/>
          </a:xfrm>
          <a:prstGeom prst="rect">
            <a:avLst/>
          </a:prstGeom>
          <a:noFill/>
        </p:spPr>
        <p:txBody>
          <a:bodyPr wrap="square" anchor="ctr">
            <a:spAutoFit/>
          </a:bodyPr>
          <a:lstStyle/>
          <a:p>
            <a:pPr algn="l">
              <a:defRPr sz="1200">
                <a:solidFill>
                  <a:srgbClr val="FFFFFF"/>
                </a:solidFill>
                <a:latin typeface="Calibri"/>
              </a:defRPr>
            </a:pPr>
            <a:r>
              <a:t>Model turlari (Haiku, Sonnet, Opus, Mythos) va texnik xususiyatlari</a:t>
            </a:r>
          </a:p>
        </p:txBody>
      </p:sp>
      <p:sp>
        <p:nvSpPr>
          <p:cNvPr id="16" name="Oval 15"/>
          <p:cNvSpPr/>
          <p:nvPr/>
        </p:nvSpPr>
        <p:spPr>
          <a:xfrm>
            <a:off x="822960" y="4976368"/>
            <a:ext cx="278384" cy="278384"/>
          </a:xfrm>
          <a:prstGeom prst="ellipse">
            <a:avLst/>
          </a:prstGeom>
          <a:solidFill>
            <a:srgbClr val="29B6F6"/>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t>6</a:t>
            </a:r>
          </a:p>
        </p:txBody>
      </p:sp>
      <p:sp>
        <p:nvSpPr>
          <p:cNvPr id="17" name="TextBox 16"/>
          <p:cNvSpPr txBox="1"/>
          <p:nvPr/>
        </p:nvSpPr>
        <p:spPr>
          <a:xfrm>
            <a:off x="1417320" y="4912360"/>
            <a:ext cx="9814529" cy="406400"/>
          </a:xfrm>
          <a:prstGeom prst="rect">
            <a:avLst/>
          </a:prstGeom>
          <a:noFill/>
        </p:spPr>
        <p:txBody>
          <a:bodyPr wrap="square" anchor="ctr">
            <a:spAutoFit/>
          </a:bodyPr>
          <a:lstStyle/>
          <a:p>
            <a:pPr algn="l">
              <a:defRPr sz="1200">
                <a:solidFill>
                  <a:srgbClr val="FFFFFF"/>
                </a:solidFill>
                <a:latin typeface="Calibri"/>
              </a:defRPr>
            </a:pPr>
            <a:r>
              <a:t>Raqobatbardoshlik va ustunliklar</a:t>
            </a:r>
          </a:p>
        </p:txBody>
      </p:sp>
      <p:sp>
        <p:nvSpPr>
          <p:cNvPr id="18" name="Oval 17"/>
          <p:cNvSpPr/>
          <p:nvPr/>
        </p:nvSpPr>
        <p:spPr>
          <a:xfrm>
            <a:off x="822960" y="5382768"/>
            <a:ext cx="278384" cy="278384"/>
          </a:xfrm>
          <a:prstGeom prst="ellipse">
            <a:avLst/>
          </a:prstGeom>
          <a:solidFill>
            <a:srgbClr val="29B6F6"/>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t>7</a:t>
            </a:r>
          </a:p>
        </p:txBody>
      </p:sp>
      <p:sp>
        <p:nvSpPr>
          <p:cNvPr id="19" name="TextBox 18"/>
          <p:cNvSpPr txBox="1"/>
          <p:nvPr/>
        </p:nvSpPr>
        <p:spPr>
          <a:xfrm>
            <a:off x="1417320" y="5318760"/>
            <a:ext cx="9814529" cy="406400"/>
          </a:xfrm>
          <a:prstGeom prst="rect">
            <a:avLst/>
          </a:prstGeom>
          <a:noFill/>
        </p:spPr>
        <p:txBody>
          <a:bodyPr wrap="square" anchor="ctr">
            <a:spAutoFit/>
          </a:bodyPr>
          <a:lstStyle/>
          <a:p>
            <a:pPr algn="l">
              <a:defRPr sz="1200">
                <a:solidFill>
                  <a:srgbClr val="FFFFFF"/>
                </a:solidFill>
                <a:latin typeface="Calibri"/>
              </a:defRPr>
            </a:pPr>
            <a:r>
              <a:t>Amaliyot: real misollar va integratsiyalar</a:t>
            </a:r>
          </a:p>
        </p:txBody>
      </p:sp>
      <p:sp>
        <p:nvSpPr>
          <p:cNvPr id="20" name="Oval 19"/>
          <p:cNvSpPr/>
          <p:nvPr/>
        </p:nvSpPr>
        <p:spPr>
          <a:xfrm>
            <a:off x="822960" y="5789168"/>
            <a:ext cx="278384" cy="278384"/>
          </a:xfrm>
          <a:prstGeom prst="ellipse">
            <a:avLst/>
          </a:prstGeom>
          <a:solidFill>
            <a:srgbClr val="29B6F6"/>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t>8</a:t>
            </a:r>
          </a:p>
        </p:txBody>
      </p:sp>
      <p:sp>
        <p:nvSpPr>
          <p:cNvPr id="21" name="TextBox 20"/>
          <p:cNvSpPr txBox="1"/>
          <p:nvPr/>
        </p:nvSpPr>
        <p:spPr>
          <a:xfrm>
            <a:off x="1417320" y="5725160"/>
            <a:ext cx="9814529" cy="406400"/>
          </a:xfrm>
          <a:prstGeom prst="rect">
            <a:avLst/>
          </a:prstGeom>
          <a:noFill/>
        </p:spPr>
        <p:txBody>
          <a:bodyPr wrap="square" anchor="ctr">
            <a:spAutoFit/>
          </a:bodyPr>
          <a:lstStyle/>
          <a:p>
            <a:pPr algn="l">
              <a:defRPr sz="1200">
                <a:solidFill>
                  <a:srgbClr val="FFFFFF"/>
                </a:solidFill>
                <a:latin typeface="Calibri"/>
              </a:defRPr>
            </a:pPr>
            <a:r>
              <a:t>Istiqbollar, xavflar va regulyativ muhit</a:t>
            </a:r>
          </a:p>
        </p:txBody>
      </p:sp>
      <p:sp>
        <p:nvSpPr>
          <p:cNvPr id="22" name="Oval 21"/>
          <p:cNvSpPr/>
          <p:nvPr/>
        </p:nvSpPr>
        <p:spPr>
          <a:xfrm>
            <a:off x="822960" y="6195568"/>
            <a:ext cx="278384" cy="278384"/>
          </a:xfrm>
          <a:prstGeom prst="ellipse">
            <a:avLst/>
          </a:prstGeom>
          <a:solidFill>
            <a:srgbClr val="29B6F6"/>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t>9</a:t>
            </a:r>
          </a:p>
        </p:txBody>
      </p:sp>
      <p:sp>
        <p:nvSpPr>
          <p:cNvPr id="23" name="TextBox 22"/>
          <p:cNvSpPr txBox="1"/>
          <p:nvPr/>
        </p:nvSpPr>
        <p:spPr>
          <a:xfrm>
            <a:off x="1417320" y="6131560"/>
            <a:ext cx="9814529" cy="406400"/>
          </a:xfrm>
          <a:prstGeom prst="rect">
            <a:avLst/>
          </a:prstGeom>
          <a:noFill/>
        </p:spPr>
        <p:txBody>
          <a:bodyPr wrap="square" anchor="ctr">
            <a:spAutoFit/>
          </a:bodyPr>
          <a:lstStyle/>
          <a:p>
            <a:pPr algn="l">
              <a:defRPr sz="1200">
                <a:solidFill>
                  <a:srgbClr val="FFFFFF"/>
                </a:solidFill>
                <a:latin typeface="Calibri"/>
              </a:defRPr>
            </a:pPr>
            <a:r>
              <a:t>Xulosa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9FF"/>
        </a:solidFill>
        <a:effectLst/>
      </p:bgPr>
    </p:bg>
    <p:spTree>
      <p:nvGrpSpPr>
        <p:cNvPr id="1" name=""/>
        <p:cNvGrpSpPr/>
        <p:nvPr/>
      </p:nvGrpSpPr>
      <p:grpSpPr/>
      <p:sp>
        <p:nvSpPr>
          <p:cNvPr id="2" name="Rectangle 1"/>
          <p:cNvSpPr/>
          <p:nvPr/>
        </p:nvSpPr>
        <p:spPr>
          <a:xfrm>
            <a:off x="0" y="0"/>
            <a:ext cx="12191969" cy="128016"/>
          </a:xfrm>
          <a:prstGeom prst="rect">
            <a:avLst/>
          </a:prstGeom>
          <a:solidFill>
            <a:srgbClr val="29B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40080" y="502920"/>
            <a:ext cx="502920" cy="502920"/>
          </a:xfrm>
          <a:prstGeom prst="ellipse">
            <a:avLst/>
          </a:prstGeom>
          <a:solidFill>
            <a:srgbClr val="0D47A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2000" b="1">
                <a:solidFill>
                  <a:srgbClr val="FFFFFF"/>
                </a:solidFill>
                <a:latin typeface="Calibri"/>
              </a:defRPr>
            </a:pPr>
            <a:r>
              <a:t>1</a:t>
            </a:r>
          </a:p>
        </p:txBody>
      </p:sp>
      <p:sp>
        <p:nvSpPr>
          <p:cNvPr id="4" name="TextBox 3"/>
          <p:cNvSpPr txBox="1"/>
          <p:nvPr/>
        </p:nvSpPr>
        <p:spPr>
          <a:xfrm>
            <a:off x="1371600" y="411480"/>
            <a:ext cx="10180289" cy="777240"/>
          </a:xfrm>
          <a:prstGeom prst="rect">
            <a:avLst/>
          </a:prstGeom>
          <a:noFill/>
        </p:spPr>
        <p:txBody>
          <a:bodyPr wrap="square" anchor="ctr">
            <a:spAutoFit/>
          </a:bodyPr>
          <a:lstStyle/>
          <a:p>
            <a:pPr algn="l">
              <a:defRPr sz="2600" b="1">
                <a:solidFill>
                  <a:srgbClr val="0D47A1"/>
                </a:solidFill>
                <a:latin typeface="Century Gothic"/>
              </a:defRPr>
            </a:pPr>
            <a:r>
              <a:t>Kirish va umumiy ma’lumot</a:t>
            </a:r>
          </a:p>
        </p:txBody>
      </p:sp>
      <p:sp>
        <p:nvSpPr>
          <p:cNvPr id="5" name="Rectangle 4"/>
          <p:cNvSpPr/>
          <p:nvPr/>
        </p:nvSpPr>
        <p:spPr>
          <a:xfrm>
            <a:off x="640080" y="1188720"/>
            <a:ext cx="822960" cy="38100"/>
          </a:xfrm>
          <a:prstGeom prst="rect">
            <a:avLst/>
          </a:prstGeom>
          <a:solidFill>
            <a:srgbClr val="29B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17320"/>
            <a:ext cx="10911809" cy="4709160"/>
          </a:xfrm>
          <a:prstGeom prst="rect">
            <a:avLst/>
          </a:prstGeom>
          <a:noFill/>
        </p:spPr>
        <p:txBody>
          <a:bodyPr wrap="square">
            <a:spAutoFit/>
          </a:bodyPr>
          <a:lstStyle/>
          <a:p/>
          <a:p>
            <a:pPr algn="just">
              <a:lnSpc>
                <a:spcPct val="120000"/>
              </a:lnSpc>
              <a:spcAft>
                <a:spcPts val="900"/>
              </a:spcAft>
              <a:defRPr sz="1800">
                <a:solidFill>
                  <a:srgbClr val="162233"/>
                </a:solidFill>
                <a:latin typeface="Calibri"/>
              </a:defRPr>
            </a:pPr>
            <a:r>
              <a:t>Kirish va umumiy ma’lumot Claude – AQShning Anthropic kompaniyasi tomonidan ishlab chiqilgan yirik til modellari (LLM) turkumidir. Birinchi versiyasi 2023‑yil mart oyida sun’iy intellektga asoslangan chatbot sifatida joriy etildi. Claude ning asosiy maqsadi foydalanuvchilarga tabiiy til orqali ma’lumot olish, muammolarni hal qilish va ijodiy ishlarni avtomatlashtirish imkoniyatini berishdir. Model “konstitutsiyaviy sun’iy intellekt” (Constitutional AI) tamoyillariga asoslanadi: har bir javob oldindan belgilangan etik qoidalar va huquqiy me’yorlarga muvofiqligini tekshirish orqali yaratiladi. 2023‑yildan beri Claude 1, Claude 2 va Claude 3 avlodlari chiqarildi; har bir avlodda imkoniyatlar sezilarli darajada oshdi.</a:t>
            </a:r>
          </a:p>
          <a:p>
            <a:pPr algn="just">
              <a:lnSpc>
                <a:spcPct val="120000"/>
              </a:lnSpc>
              <a:spcAft>
                <a:spcPts val="900"/>
              </a:spcAft>
              <a:defRPr sz="1800">
                <a:solidFill>
                  <a:srgbClr val="162233"/>
                </a:solidFill>
                <a:latin typeface="Calibri"/>
              </a:defRPr>
            </a:pPr>
            <a:r>
              <a:t>2026‑yilda “Claude Mythos” nomli maxsus model cheklangan sonli korporativ mijozlarga taqdim etildi. Shu yili Anthropic kompaniyasi modelni ommaviy ichki kuzatuv va to‘liq avtonom qurol tizimlarida foydalanishni taqiqlovchi bandlarni olib tashlashdan bosh tortdi, natijada AQSh federal idoralari Claude’ni bosqichma‑bosqich cheklashga kirishdi. Bu tarixiy voqea sun’iy intellektning ijtimoiy, siyosiy va xavfsizlik masalalariga qanday ta’sir ko‘rsatishini ko‘rsatadi.</a:t>
            </a:r>
          </a:p>
        </p:txBody>
      </p:sp>
      <p:sp>
        <p:nvSpPr>
          <p:cNvPr id="7" name="Rectangle 6"/>
          <p:cNvSpPr/>
          <p:nvPr/>
        </p:nvSpPr>
        <p:spPr>
          <a:xfrm>
            <a:off x="548640" y="6355080"/>
            <a:ext cx="11094689" cy="15240"/>
          </a:xfrm>
          <a:prstGeom prst="rect">
            <a:avLst/>
          </a:prstGeom>
          <a:solidFill>
            <a:srgbClr val="9EB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19088"/>
            <a:ext cx="10728929" cy="320040"/>
          </a:xfrm>
          <a:prstGeom prst="rect">
            <a:avLst/>
          </a:prstGeom>
          <a:noFill/>
        </p:spPr>
        <p:txBody>
          <a:bodyPr wrap="none">
            <a:spAutoFit/>
          </a:bodyPr>
          <a:lstStyle/>
          <a:p>
            <a:pPr algn="l">
              <a:defRPr sz="1100">
                <a:solidFill>
                  <a:srgbClr val="7A8BA3"/>
                </a:solidFill>
                <a:latin typeface="Calibri"/>
              </a:defRPr>
            </a:pPr>
            <a:r>
              <a:t>Claude haqida</a:t>
            </a:r>
          </a:p>
        </p:txBody>
      </p:sp>
      <p:sp>
        <p:nvSpPr>
          <p:cNvPr id="9" name="TextBox 8"/>
          <p:cNvSpPr txBox="1"/>
          <p:nvPr/>
        </p:nvSpPr>
        <p:spPr>
          <a:xfrm>
            <a:off x="11094689" y="6419088"/>
            <a:ext cx="548640" cy="320040"/>
          </a:xfrm>
          <a:prstGeom prst="rect">
            <a:avLst/>
          </a:prstGeom>
          <a:noFill/>
        </p:spPr>
        <p:txBody>
          <a:bodyPr wrap="none">
            <a:spAutoFit/>
          </a:bodyPr>
          <a:lstStyle/>
          <a:p>
            <a:pPr algn="r">
              <a:defRPr sz="1100">
                <a:solidFill>
                  <a:srgbClr val="7A8BA3"/>
                </a:solidFill>
                <a:latin typeface="Calibri"/>
              </a:defRPr>
            </a:pPr>
            <a: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9FF"/>
        </a:solidFill>
        <a:effectLst/>
      </p:bgPr>
    </p:bg>
    <p:spTree>
      <p:nvGrpSpPr>
        <p:cNvPr id="1" name=""/>
        <p:cNvGrpSpPr/>
        <p:nvPr/>
      </p:nvGrpSpPr>
      <p:grpSpPr/>
      <p:sp>
        <p:nvSpPr>
          <p:cNvPr id="2" name="Rectangle 1"/>
          <p:cNvSpPr/>
          <p:nvPr/>
        </p:nvSpPr>
        <p:spPr>
          <a:xfrm>
            <a:off x="0" y="0"/>
            <a:ext cx="12191969" cy="128016"/>
          </a:xfrm>
          <a:prstGeom prst="rect">
            <a:avLst/>
          </a:prstGeom>
          <a:solidFill>
            <a:srgbClr val="29B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40080" y="502920"/>
            <a:ext cx="502920" cy="502920"/>
          </a:xfrm>
          <a:prstGeom prst="ellipse">
            <a:avLst/>
          </a:prstGeom>
          <a:solidFill>
            <a:srgbClr val="0D47A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2000" b="1">
                <a:solidFill>
                  <a:srgbClr val="FFFFFF"/>
                </a:solidFill>
                <a:latin typeface="Calibri"/>
              </a:defRPr>
            </a:pPr>
            <a:r>
              <a:t>2</a:t>
            </a:r>
          </a:p>
        </p:txBody>
      </p:sp>
      <p:sp>
        <p:nvSpPr>
          <p:cNvPr id="4" name="TextBox 3"/>
          <p:cNvSpPr txBox="1"/>
          <p:nvPr/>
        </p:nvSpPr>
        <p:spPr>
          <a:xfrm>
            <a:off x="1371600" y="411480"/>
            <a:ext cx="10180289" cy="777240"/>
          </a:xfrm>
          <a:prstGeom prst="rect">
            <a:avLst/>
          </a:prstGeom>
          <a:noFill/>
        </p:spPr>
        <p:txBody>
          <a:bodyPr wrap="square" anchor="ctr">
            <a:spAutoFit/>
          </a:bodyPr>
          <a:lstStyle/>
          <a:p>
            <a:pPr algn="l">
              <a:defRPr sz="2600" b="1">
                <a:solidFill>
                  <a:srgbClr val="0D47A1"/>
                </a:solidFill>
                <a:latin typeface="Century Gothic"/>
              </a:defRPr>
            </a:pPr>
            <a:r>
              <a:t>Claude’ni yaratishdagi muammo va ehtiyoj</a:t>
            </a:r>
          </a:p>
        </p:txBody>
      </p:sp>
      <p:sp>
        <p:nvSpPr>
          <p:cNvPr id="5" name="Rectangle 4"/>
          <p:cNvSpPr/>
          <p:nvPr/>
        </p:nvSpPr>
        <p:spPr>
          <a:xfrm>
            <a:off x="640080" y="1188720"/>
            <a:ext cx="822960" cy="38100"/>
          </a:xfrm>
          <a:prstGeom prst="rect">
            <a:avLst/>
          </a:prstGeom>
          <a:solidFill>
            <a:srgbClr val="29B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17320"/>
            <a:ext cx="10911809" cy="4709160"/>
          </a:xfrm>
          <a:prstGeom prst="rect">
            <a:avLst/>
          </a:prstGeom>
          <a:noFill/>
        </p:spPr>
        <p:txBody>
          <a:bodyPr wrap="square">
            <a:spAutoFit/>
          </a:bodyPr>
          <a:lstStyle/>
          <a:p/>
          <a:p>
            <a:pPr algn="just">
              <a:lnSpc>
                <a:spcPct val="120000"/>
              </a:lnSpc>
              <a:spcAft>
                <a:spcPts val="900"/>
              </a:spcAft>
              <a:defRPr sz="1800">
                <a:solidFill>
                  <a:srgbClr val="162233"/>
                </a:solidFill>
                <a:latin typeface="Calibri"/>
              </a:defRPr>
            </a:pPr>
            <a:r>
              <a:t>Claude’ni yaratishdagi muammo va ehtiyoj 2020‑yillarning boshida generativ sun’iy intellekt bozorida asosiy muammo – modelning “halolligi” va “xavfsizligi” edi. OpenAI, Google va boshqa yirik kompaniyalar GPT‑3, Gemini kabi kuchli LLM’larni chiqarishdi, lekin ular noto‘g‘ri ma’lumot, manipulyatsiya, yoki zararli kontent yaratish xavfi bilan tanilgan edi. Korxonalar, davlat tashkilotlari va ta’lim muassasalari aniq, qonuniy va etik javoblar beruvchi AI yechimiga muhtoj edi. Ayniqsa, mijozlarga xizmat ko‘rsatish, huquqiy maslahat, tibbiy ma’lumotlar bilan ishlashda noto‘g‘ri javoblar katta moliyaviy va imidj xavfini tug‘diradi.</a:t>
            </a:r>
          </a:p>
          <a:p>
            <a:pPr algn="just">
              <a:lnSpc>
                <a:spcPct val="120000"/>
              </a:lnSpc>
              <a:spcAft>
                <a:spcPts val="900"/>
              </a:spcAft>
              <a:defRPr sz="1800">
                <a:solidFill>
                  <a:srgbClr val="162233"/>
                </a:solidFill>
                <a:latin typeface="Calibri"/>
              </a:defRPr>
            </a:pPr>
            <a:r>
              <a:t>Anthropic bu muammoni hal qilish uchun “konstitutsiyaviy AI” metodologiyasini taklif etdi: modelni oldindan belgilangan etik konstitutsiya asosida “self‑critique” (o‘z‑o‘zini tekshirish) qilishga o‘rgatish. Bu yondashuv modelning har bir chiqishini qonuniy, axloqiy va ijtimoiy me’yorlarga moslashtirishga yordam beradi, shu bilan birga foydalanuvchi ishonchini oshiradi. Shuningdek, korporativ mijozlar uchun maxsus xavfsizlik darajasi, ma’lumot maxfiyligi va audit izlari talab qilinadi – bu ehtiyojlar Claude’ning rivojlanish strategiyasining asosiy drayveri bo‘ldi.</a:t>
            </a:r>
          </a:p>
        </p:txBody>
      </p:sp>
      <p:sp>
        <p:nvSpPr>
          <p:cNvPr id="7" name="Rectangle 6"/>
          <p:cNvSpPr/>
          <p:nvPr/>
        </p:nvSpPr>
        <p:spPr>
          <a:xfrm>
            <a:off x="548640" y="6355080"/>
            <a:ext cx="11094689" cy="15240"/>
          </a:xfrm>
          <a:prstGeom prst="rect">
            <a:avLst/>
          </a:prstGeom>
          <a:solidFill>
            <a:srgbClr val="9EB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19088"/>
            <a:ext cx="10728929" cy="320040"/>
          </a:xfrm>
          <a:prstGeom prst="rect">
            <a:avLst/>
          </a:prstGeom>
          <a:noFill/>
        </p:spPr>
        <p:txBody>
          <a:bodyPr wrap="none">
            <a:spAutoFit/>
          </a:bodyPr>
          <a:lstStyle/>
          <a:p>
            <a:pPr algn="l">
              <a:defRPr sz="1100">
                <a:solidFill>
                  <a:srgbClr val="7A8BA3"/>
                </a:solidFill>
                <a:latin typeface="Calibri"/>
              </a:defRPr>
            </a:pPr>
            <a:r>
              <a:t>Claude haqida</a:t>
            </a:r>
          </a:p>
        </p:txBody>
      </p:sp>
      <p:sp>
        <p:nvSpPr>
          <p:cNvPr id="9" name="TextBox 8"/>
          <p:cNvSpPr txBox="1"/>
          <p:nvPr/>
        </p:nvSpPr>
        <p:spPr>
          <a:xfrm>
            <a:off x="11094689" y="6419088"/>
            <a:ext cx="548640" cy="320040"/>
          </a:xfrm>
          <a:prstGeom prst="rect">
            <a:avLst/>
          </a:prstGeom>
          <a:noFill/>
        </p:spPr>
        <p:txBody>
          <a:bodyPr wrap="none">
            <a:spAutoFit/>
          </a:bodyPr>
          <a:lstStyle/>
          <a:p>
            <a:pPr algn="r">
              <a:defRPr sz="1100">
                <a:solidFill>
                  <a:srgbClr val="7A8BA3"/>
                </a:solidFill>
                <a:latin typeface="Calibri"/>
              </a:defRPr>
            </a:pPr>
            <a: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9FF"/>
        </a:solidFill>
        <a:effectLst/>
      </p:bgPr>
    </p:bg>
    <p:spTree>
      <p:nvGrpSpPr>
        <p:cNvPr id="1" name=""/>
        <p:cNvGrpSpPr/>
        <p:nvPr/>
      </p:nvGrpSpPr>
      <p:grpSpPr/>
      <p:sp>
        <p:nvSpPr>
          <p:cNvPr id="2" name="Rectangle 1"/>
          <p:cNvSpPr/>
          <p:nvPr/>
        </p:nvSpPr>
        <p:spPr>
          <a:xfrm>
            <a:off x="0" y="0"/>
            <a:ext cx="12191969" cy="128016"/>
          </a:xfrm>
          <a:prstGeom prst="rect">
            <a:avLst/>
          </a:prstGeom>
          <a:solidFill>
            <a:srgbClr val="29B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40080" y="502920"/>
            <a:ext cx="502920" cy="502920"/>
          </a:xfrm>
          <a:prstGeom prst="ellipse">
            <a:avLst/>
          </a:prstGeom>
          <a:solidFill>
            <a:srgbClr val="0D47A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2000" b="1">
                <a:solidFill>
                  <a:srgbClr val="FFFFFF"/>
                </a:solidFill>
                <a:latin typeface="Calibri"/>
              </a:defRPr>
            </a:pPr>
            <a:r>
              <a:t>3</a:t>
            </a:r>
          </a:p>
        </p:txBody>
      </p:sp>
      <p:sp>
        <p:nvSpPr>
          <p:cNvPr id="4" name="TextBox 3"/>
          <p:cNvSpPr txBox="1"/>
          <p:nvPr/>
        </p:nvSpPr>
        <p:spPr>
          <a:xfrm>
            <a:off x="1371600" y="411480"/>
            <a:ext cx="10180289" cy="777240"/>
          </a:xfrm>
          <a:prstGeom prst="rect">
            <a:avLst/>
          </a:prstGeom>
          <a:noFill/>
        </p:spPr>
        <p:txBody>
          <a:bodyPr wrap="square" anchor="ctr">
            <a:spAutoFit/>
          </a:bodyPr>
          <a:lstStyle/>
          <a:p>
            <a:pPr algn="l">
              <a:defRPr sz="2600" b="1">
                <a:solidFill>
                  <a:srgbClr val="0D47A1"/>
                </a:solidFill>
                <a:latin typeface="Century Gothic"/>
              </a:defRPr>
            </a:pPr>
            <a:r>
              <a:t>“Konstitutsiyaviy AI” yondashuvi – yechim sifatida Claude</a:t>
            </a:r>
          </a:p>
        </p:txBody>
      </p:sp>
      <p:sp>
        <p:nvSpPr>
          <p:cNvPr id="5" name="Rectangle 4"/>
          <p:cNvSpPr/>
          <p:nvPr/>
        </p:nvSpPr>
        <p:spPr>
          <a:xfrm>
            <a:off x="640080" y="1188720"/>
            <a:ext cx="822960" cy="38100"/>
          </a:xfrm>
          <a:prstGeom prst="rect">
            <a:avLst/>
          </a:prstGeom>
          <a:solidFill>
            <a:srgbClr val="29B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17320"/>
            <a:ext cx="10911809" cy="4709160"/>
          </a:xfrm>
          <a:prstGeom prst="rect">
            <a:avLst/>
          </a:prstGeom>
          <a:noFill/>
        </p:spPr>
        <p:txBody>
          <a:bodyPr wrap="square">
            <a:spAutoFit/>
          </a:bodyPr>
          <a:lstStyle/>
          <a:p/>
          <a:p>
            <a:pPr algn="just">
              <a:lnSpc>
                <a:spcPct val="120000"/>
              </a:lnSpc>
              <a:spcAft>
                <a:spcPts val="800"/>
              </a:spcAft>
              <a:defRPr sz="1600">
                <a:solidFill>
                  <a:srgbClr val="162233"/>
                </a:solidFill>
                <a:latin typeface="Calibri"/>
              </a:defRPr>
            </a:pPr>
            <a:r>
              <a:t>“Konstitutsiyaviy AI” yondashuvi – yechim sifatida Claude Anthropic tomonidan ishlab chiqilgan “konstitutsiyaviy AI” yondashuvi ikki bosqichli mexanizmga asoslanadi. Birinchi bosqichda model “baseline” javobni yaratadi, ikkinchi bosqichda esa u o‘z javobini konstitutsiyaviy qoidalar (masalan, “yolg‘on ma’lumot berilmasin”, “xavfli tavsiyalar berilmasin”, “maxfiy ma’lumotni oshkor qilmasin”) asosida qayta baholaydi va zarur bo‘lsa tuzatadi. Bu jarayon “self‑alignment” deb ataladi va har bir interaktiv sessiyada avtomatik ravishda amalga oshiriladi. Claude 3 versiyasida bu mexanizm 95 % ga yaqin aniqlik bilan etik xatoliklarni kamaytiradi, bu esa GPT‑4 ning 80‑85 % ga nisbatan sezilarli farqni ko‘rsatadi.</a:t>
            </a:r>
          </a:p>
          <a:p>
            <a:pPr algn="just">
              <a:lnSpc>
                <a:spcPct val="120000"/>
              </a:lnSpc>
              <a:spcAft>
                <a:spcPts val="800"/>
              </a:spcAft>
              <a:defRPr sz="1600">
                <a:solidFill>
                  <a:srgbClr val="162233"/>
                </a:solidFill>
                <a:latin typeface="Calibri"/>
              </a:defRPr>
            </a:pPr>
            <a:r>
              <a:t>Bundan tashqari, model “feedback loop” orqali foydalanuvchi va ekspertlar tomonidan berilgan real‑time teskari aloqani qabul qiladi, natijada doimiy o‘rganish va takomillashtirishga erishiladi. Konstitutsiyaviy AI yondashuvi nafaqat etik risklarni kamaytiradi, balki huquqiy muvofiqlikni ham ta’minlaydi: modelni audit qilish, GDPR, CCPA kabi ma’lumot himoyasi qonunlariga mos kelishini tekshirish osonlashadi. Shunday qilib, Claude nafaqat yuqori darajadagi tilni tushunish va generatsiya qilish qobiliyatiga ega, balki biznes va davlat sektorlarida ishonchli, xavfsiz AI hamkor sifatida ishlashga mo‘ljallangan.</a:t>
            </a:r>
          </a:p>
        </p:txBody>
      </p:sp>
      <p:sp>
        <p:nvSpPr>
          <p:cNvPr id="7" name="Rectangle 6"/>
          <p:cNvSpPr/>
          <p:nvPr/>
        </p:nvSpPr>
        <p:spPr>
          <a:xfrm>
            <a:off x="548640" y="6355080"/>
            <a:ext cx="11094689" cy="15240"/>
          </a:xfrm>
          <a:prstGeom prst="rect">
            <a:avLst/>
          </a:prstGeom>
          <a:solidFill>
            <a:srgbClr val="9EB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19088"/>
            <a:ext cx="10728929" cy="320040"/>
          </a:xfrm>
          <a:prstGeom prst="rect">
            <a:avLst/>
          </a:prstGeom>
          <a:noFill/>
        </p:spPr>
        <p:txBody>
          <a:bodyPr wrap="none">
            <a:spAutoFit/>
          </a:bodyPr>
          <a:lstStyle/>
          <a:p>
            <a:pPr algn="l">
              <a:defRPr sz="1100">
                <a:solidFill>
                  <a:srgbClr val="7A8BA3"/>
                </a:solidFill>
                <a:latin typeface="Calibri"/>
              </a:defRPr>
            </a:pPr>
            <a:r>
              <a:t>Claude haqida</a:t>
            </a:r>
          </a:p>
        </p:txBody>
      </p:sp>
      <p:sp>
        <p:nvSpPr>
          <p:cNvPr id="9" name="TextBox 8"/>
          <p:cNvSpPr txBox="1"/>
          <p:nvPr/>
        </p:nvSpPr>
        <p:spPr>
          <a:xfrm>
            <a:off x="11094689" y="6419088"/>
            <a:ext cx="548640" cy="320040"/>
          </a:xfrm>
          <a:prstGeom prst="rect">
            <a:avLst/>
          </a:prstGeom>
          <a:noFill/>
        </p:spPr>
        <p:txBody>
          <a:bodyPr wrap="none">
            <a:spAutoFit/>
          </a:bodyPr>
          <a:lstStyle/>
          <a:p>
            <a:pPr algn="r">
              <a:defRPr sz="1100">
                <a:solidFill>
                  <a:srgbClr val="7A8BA3"/>
                </a:solidFill>
                <a:latin typeface="Calibri"/>
              </a:defRPr>
            </a:pPr>
            <a: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9FF"/>
        </a:solidFill>
        <a:effectLst/>
      </p:bgPr>
    </p:bg>
    <p:spTree>
      <p:nvGrpSpPr>
        <p:cNvPr id="1" name=""/>
        <p:cNvGrpSpPr/>
        <p:nvPr/>
      </p:nvGrpSpPr>
      <p:grpSpPr/>
      <p:sp>
        <p:nvSpPr>
          <p:cNvPr id="2" name="Rectangle 1"/>
          <p:cNvSpPr/>
          <p:nvPr/>
        </p:nvSpPr>
        <p:spPr>
          <a:xfrm>
            <a:off x="0" y="0"/>
            <a:ext cx="12191969" cy="128016"/>
          </a:xfrm>
          <a:prstGeom prst="rect">
            <a:avLst/>
          </a:prstGeom>
          <a:solidFill>
            <a:srgbClr val="29B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40080" y="502920"/>
            <a:ext cx="502920" cy="502920"/>
          </a:xfrm>
          <a:prstGeom prst="ellipse">
            <a:avLst/>
          </a:prstGeom>
          <a:solidFill>
            <a:srgbClr val="0D47A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2000" b="1">
                <a:solidFill>
                  <a:srgbClr val="FFFFFF"/>
                </a:solidFill>
                <a:latin typeface="Calibri"/>
              </a:defRPr>
            </a:pPr>
            <a:r>
              <a:t>4</a:t>
            </a:r>
          </a:p>
        </p:txBody>
      </p:sp>
      <p:sp>
        <p:nvSpPr>
          <p:cNvPr id="4" name="TextBox 3"/>
          <p:cNvSpPr txBox="1"/>
          <p:nvPr/>
        </p:nvSpPr>
        <p:spPr>
          <a:xfrm>
            <a:off x="1371600" y="411480"/>
            <a:ext cx="10180289" cy="777240"/>
          </a:xfrm>
          <a:prstGeom prst="rect">
            <a:avLst/>
          </a:prstGeom>
          <a:noFill/>
        </p:spPr>
        <p:txBody>
          <a:bodyPr wrap="square" anchor="ctr">
            <a:spAutoFit/>
          </a:bodyPr>
          <a:lstStyle/>
          <a:p>
            <a:pPr algn="l">
              <a:defRPr sz="2600" b="1">
                <a:solidFill>
                  <a:srgbClr val="0D47A1"/>
                </a:solidFill>
                <a:latin typeface="Century Gothic"/>
              </a:defRPr>
            </a:pPr>
            <a:r>
              <a:t>Bozor va qo‘llanilish sohalari</a:t>
            </a:r>
          </a:p>
        </p:txBody>
      </p:sp>
      <p:sp>
        <p:nvSpPr>
          <p:cNvPr id="5" name="Rectangle 4"/>
          <p:cNvSpPr/>
          <p:nvPr/>
        </p:nvSpPr>
        <p:spPr>
          <a:xfrm>
            <a:off x="640080" y="1188720"/>
            <a:ext cx="822960" cy="38100"/>
          </a:xfrm>
          <a:prstGeom prst="rect">
            <a:avLst/>
          </a:prstGeom>
          <a:solidFill>
            <a:srgbClr val="29B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17320"/>
            <a:ext cx="10911809" cy="4709160"/>
          </a:xfrm>
          <a:prstGeom prst="rect">
            <a:avLst/>
          </a:prstGeom>
          <a:noFill/>
        </p:spPr>
        <p:txBody>
          <a:bodyPr wrap="square">
            <a:spAutoFit/>
          </a:bodyPr>
          <a:lstStyle/>
          <a:p/>
          <a:p>
            <a:pPr algn="just">
              <a:lnSpc>
                <a:spcPct val="120000"/>
              </a:lnSpc>
              <a:spcAft>
                <a:spcPts val="800"/>
              </a:spcAft>
              <a:defRPr sz="1700">
                <a:solidFill>
                  <a:srgbClr val="162233"/>
                </a:solidFill>
                <a:latin typeface="Calibri"/>
              </a:defRPr>
            </a:pPr>
            <a:r>
              <a:t>Bozor va qo‘llanilish sohalari 2023‑yil global generativ AI bozor hajmi $30 milliardni tashkil etdi; MarketsandMarkets prognoziga ko‘ra, 2030‑yilgacha bu ko‘rsatkich $150 milliardga yetishi kutilmoqda. Claude ayniqsa quyidagi segmentlarda kuchli talabga ega: (a) mijozlarga xizmat ko‘rsatish (chatbotlar, call‑center avtomatizatsiyasi); (b) korporativ dasturiy ta’minot ishlab chiqish (kod yozish, test yozish); (c) kontent yaratish (marketing matnlari, blog postlari, video skriptlari); (d) huquqiy va moliyaviy maslahat (kontrakt tahlili, risk baholash); (e) ta’lim (savol‑javob platformalari, interaktiv darsliklar). Misol uchun, Salesforce 2024‑yilda Claude 3 ni o‘z Einstein AI platformasiga integratsiya qilgan holda, mijoz so‘rovlariga javob berish tezligini 40 % ga oshirgan.</a:t>
            </a:r>
          </a:p>
          <a:p>
            <a:pPr algn="just">
              <a:lnSpc>
                <a:spcPct val="120000"/>
              </a:lnSpc>
              <a:spcAft>
                <a:spcPts val="800"/>
              </a:spcAft>
              <a:defRPr sz="1700">
                <a:solidFill>
                  <a:srgbClr val="162233"/>
                </a:solidFill>
                <a:latin typeface="Calibri"/>
              </a:defRPr>
            </a:pPr>
            <a:r>
              <a:t>Shuningdek, Microsoft Teams ichida Claude Haiku modeli orqali real‑time tarjima va xulosa qilish funksiyalari qo‘shildi, bu esa global kompaniyalar uchun ko‘p tilli hamkorlikni soddalashtirdi. Bozor tahlili shuni ko‘rsatadiki, korporativ mijozlar “xavfsizlik” va “etik muvofiqlik”ni birinchi o‘ringa qo‘ygan AI provayderlarni afzal ko‘radi, bu esa Claude’ning raqobatbardosh ustunligini yanada mustahkamlaydi.</a:t>
            </a:r>
          </a:p>
        </p:txBody>
      </p:sp>
      <p:sp>
        <p:nvSpPr>
          <p:cNvPr id="7" name="Rectangle 6"/>
          <p:cNvSpPr/>
          <p:nvPr/>
        </p:nvSpPr>
        <p:spPr>
          <a:xfrm>
            <a:off x="548640" y="6355080"/>
            <a:ext cx="11094689" cy="15240"/>
          </a:xfrm>
          <a:prstGeom prst="rect">
            <a:avLst/>
          </a:prstGeom>
          <a:solidFill>
            <a:srgbClr val="9EB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19088"/>
            <a:ext cx="10728929" cy="320040"/>
          </a:xfrm>
          <a:prstGeom prst="rect">
            <a:avLst/>
          </a:prstGeom>
          <a:noFill/>
        </p:spPr>
        <p:txBody>
          <a:bodyPr wrap="none">
            <a:spAutoFit/>
          </a:bodyPr>
          <a:lstStyle/>
          <a:p>
            <a:pPr algn="l">
              <a:defRPr sz="1100">
                <a:solidFill>
                  <a:srgbClr val="7A8BA3"/>
                </a:solidFill>
                <a:latin typeface="Calibri"/>
              </a:defRPr>
            </a:pPr>
            <a:r>
              <a:t>Claude haqida</a:t>
            </a:r>
          </a:p>
        </p:txBody>
      </p:sp>
      <p:sp>
        <p:nvSpPr>
          <p:cNvPr id="9" name="TextBox 8"/>
          <p:cNvSpPr txBox="1"/>
          <p:nvPr/>
        </p:nvSpPr>
        <p:spPr>
          <a:xfrm>
            <a:off x="11094689" y="6419088"/>
            <a:ext cx="548640" cy="320040"/>
          </a:xfrm>
          <a:prstGeom prst="rect">
            <a:avLst/>
          </a:prstGeom>
          <a:noFill/>
        </p:spPr>
        <p:txBody>
          <a:bodyPr wrap="none">
            <a:spAutoFit/>
          </a:bodyPr>
          <a:lstStyle/>
          <a:p>
            <a:pPr algn="r">
              <a:defRPr sz="1100">
                <a:solidFill>
                  <a:srgbClr val="7A8BA3"/>
                </a:solidFill>
                <a:latin typeface="Calibri"/>
              </a:defRPr>
            </a:pPr>
            <a: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9FF"/>
        </a:solidFill>
        <a:effectLst/>
      </p:bgPr>
    </p:bg>
    <p:spTree>
      <p:nvGrpSpPr>
        <p:cNvPr id="1" name=""/>
        <p:cNvGrpSpPr/>
        <p:nvPr/>
      </p:nvGrpSpPr>
      <p:grpSpPr/>
      <p:sp>
        <p:nvSpPr>
          <p:cNvPr id="2" name="Rectangle 1"/>
          <p:cNvSpPr/>
          <p:nvPr/>
        </p:nvSpPr>
        <p:spPr>
          <a:xfrm>
            <a:off x="0" y="0"/>
            <a:ext cx="12191969" cy="128016"/>
          </a:xfrm>
          <a:prstGeom prst="rect">
            <a:avLst/>
          </a:prstGeom>
          <a:solidFill>
            <a:srgbClr val="29B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40080" y="502920"/>
            <a:ext cx="502920" cy="502920"/>
          </a:xfrm>
          <a:prstGeom prst="ellipse">
            <a:avLst/>
          </a:prstGeom>
          <a:solidFill>
            <a:srgbClr val="0D47A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2000" b="1">
                <a:solidFill>
                  <a:srgbClr val="FFFFFF"/>
                </a:solidFill>
                <a:latin typeface="Calibri"/>
              </a:defRPr>
            </a:pPr>
            <a:r>
              <a:t>5</a:t>
            </a:r>
          </a:p>
        </p:txBody>
      </p:sp>
      <p:sp>
        <p:nvSpPr>
          <p:cNvPr id="4" name="TextBox 3"/>
          <p:cNvSpPr txBox="1"/>
          <p:nvPr/>
        </p:nvSpPr>
        <p:spPr>
          <a:xfrm>
            <a:off x="1371600" y="411480"/>
            <a:ext cx="10180289" cy="777240"/>
          </a:xfrm>
          <a:prstGeom prst="rect">
            <a:avLst/>
          </a:prstGeom>
          <a:noFill/>
        </p:spPr>
        <p:txBody>
          <a:bodyPr wrap="square" anchor="ctr">
            <a:spAutoFit/>
          </a:bodyPr>
          <a:lstStyle/>
          <a:p>
            <a:pPr algn="l">
              <a:defRPr sz="2400" b="1">
                <a:solidFill>
                  <a:srgbClr val="0D47A1"/>
                </a:solidFill>
                <a:latin typeface="Century Gothic"/>
              </a:defRPr>
            </a:pPr>
            <a:r>
              <a:t>Model turlari (Haiku, Sonnet, Opus, Mythos) va texnik xususiyatlari</a:t>
            </a:r>
          </a:p>
        </p:txBody>
      </p:sp>
      <p:sp>
        <p:nvSpPr>
          <p:cNvPr id="5" name="Rectangle 4"/>
          <p:cNvSpPr/>
          <p:nvPr/>
        </p:nvSpPr>
        <p:spPr>
          <a:xfrm>
            <a:off x="640080" y="1188720"/>
            <a:ext cx="822960" cy="38100"/>
          </a:xfrm>
          <a:prstGeom prst="rect">
            <a:avLst/>
          </a:prstGeom>
          <a:solidFill>
            <a:srgbClr val="29B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17320"/>
            <a:ext cx="10911809" cy="4709160"/>
          </a:xfrm>
          <a:prstGeom prst="rect">
            <a:avLst/>
          </a:prstGeom>
          <a:noFill/>
        </p:spPr>
        <p:txBody>
          <a:bodyPr wrap="square">
            <a:spAutoFit/>
          </a:bodyPr>
          <a:lstStyle/>
          <a:p/>
          <a:p>
            <a:pPr algn="just">
              <a:lnSpc>
                <a:spcPct val="120000"/>
              </a:lnSpc>
              <a:spcAft>
                <a:spcPts val="800"/>
              </a:spcAft>
              <a:defRPr sz="1700">
                <a:solidFill>
                  <a:srgbClr val="162233"/>
                </a:solidFill>
                <a:latin typeface="Calibri"/>
              </a:defRPr>
            </a:pPr>
            <a:r>
              <a:t>Model turlari (Haiku, Sonnet, Opus, Mythos) va texnik xususiyatlari Claude 3 avlodida uch xil model – Haiku, Sonnet va Opus – taqdim etildi. Haiku eng yengil variant bo‘lib, 7 billion parametrga ega, real‑time chat va mobil ilovalar uchun mo‘ljallangan; javob tezligi 30 ms dan kam. Sonnet o‘rtacha darajadagi 20 billion parametrli model bo‘lib, ko‘proq kontekstual chuqurlik va kod generatsiyasida yuqori aniqlikni ta’minlaydi (kod testlari 92 % ga yaqin muvaffaqiyat). Opus esa 100 billion parametrli “enterprise‑grade” model bo‘lib, katta hajmdagi hujjat tahlili, multi‑modal (matn‑rasm) integratsiya va uzun kontekst (32 k token) bilan ishlaydi.</a:t>
            </a:r>
          </a:p>
          <a:p>
            <a:pPr algn="just">
              <a:lnSpc>
                <a:spcPct val="120000"/>
              </a:lnSpc>
              <a:spcAft>
                <a:spcPts val="800"/>
              </a:spcAft>
              <a:defRPr sz="1700">
                <a:solidFill>
                  <a:srgbClr val="162233"/>
                </a:solidFill>
                <a:latin typeface="Calibri"/>
              </a:defRPr>
            </a:pPr>
            <a:r>
              <a:t>2026‑yilda chiqarilgan Claude Mythos – maxsus korporativ versiya, 150 billion parametrli, “privacy‑first” arxitektura bilan qurilgan; ma’lumotlar foydalanuvchi serverida shifrlangan holda qayta ishlanadi, bu esa sog‘liqni saqlash va moliya sohalarida GDPR talablari bilan to‘liq muvofiqlikni kafolatlaydi. Texnik jihatdan barcha modellarda “Transformer‑XL” arxitekturasi, “sparse attention” mexanizmi va “Mixture‑of‑Experts” (MoE) qatlamlari qo‘llaniladi, bu esa hisoblash samaradorligini 2‑3 baravar oshiradi. Shuningdek, har bir model “self‑critique” moduliga ega bo‘lib, javobni konstitutsiyaviy qoidalar bilan tekshiradi.</a:t>
            </a:r>
          </a:p>
        </p:txBody>
      </p:sp>
      <p:sp>
        <p:nvSpPr>
          <p:cNvPr id="7" name="Rectangle 6"/>
          <p:cNvSpPr/>
          <p:nvPr/>
        </p:nvSpPr>
        <p:spPr>
          <a:xfrm>
            <a:off x="548640" y="6355080"/>
            <a:ext cx="11094689" cy="15240"/>
          </a:xfrm>
          <a:prstGeom prst="rect">
            <a:avLst/>
          </a:prstGeom>
          <a:solidFill>
            <a:srgbClr val="9EB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19088"/>
            <a:ext cx="10728929" cy="320040"/>
          </a:xfrm>
          <a:prstGeom prst="rect">
            <a:avLst/>
          </a:prstGeom>
          <a:noFill/>
        </p:spPr>
        <p:txBody>
          <a:bodyPr wrap="none">
            <a:spAutoFit/>
          </a:bodyPr>
          <a:lstStyle/>
          <a:p>
            <a:pPr algn="l">
              <a:defRPr sz="1100">
                <a:solidFill>
                  <a:srgbClr val="7A8BA3"/>
                </a:solidFill>
                <a:latin typeface="Calibri"/>
              </a:defRPr>
            </a:pPr>
            <a:r>
              <a:t>Claude haqida</a:t>
            </a:r>
          </a:p>
        </p:txBody>
      </p:sp>
      <p:sp>
        <p:nvSpPr>
          <p:cNvPr id="9" name="TextBox 8"/>
          <p:cNvSpPr txBox="1"/>
          <p:nvPr/>
        </p:nvSpPr>
        <p:spPr>
          <a:xfrm>
            <a:off x="11094689" y="6419088"/>
            <a:ext cx="548640" cy="320040"/>
          </a:xfrm>
          <a:prstGeom prst="rect">
            <a:avLst/>
          </a:prstGeom>
          <a:noFill/>
        </p:spPr>
        <p:txBody>
          <a:bodyPr wrap="none">
            <a:spAutoFit/>
          </a:bodyPr>
          <a:lstStyle/>
          <a:p>
            <a:pPr algn="r">
              <a:defRPr sz="1100">
                <a:solidFill>
                  <a:srgbClr val="7A8BA3"/>
                </a:solidFill>
                <a:latin typeface="Calibri"/>
              </a:defRPr>
            </a:pPr>
            <a: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9FF"/>
        </a:solidFill>
        <a:effectLst/>
      </p:bgPr>
    </p:bg>
    <p:spTree>
      <p:nvGrpSpPr>
        <p:cNvPr id="1" name=""/>
        <p:cNvGrpSpPr/>
        <p:nvPr/>
      </p:nvGrpSpPr>
      <p:grpSpPr/>
      <p:sp>
        <p:nvSpPr>
          <p:cNvPr id="2" name="Rectangle 1"/>
          <p:cNvSpPr/>
          <p:nvPr/>
        </p:nvSpPr>
        <p:spPr>
          <a:xfrm>
            <a:off x="0" y="0"/>
            <a:ext cx="12191969" cy="128016"/>
          </a:xfrm>
          <a:prstGeom prst="rect">
            <a:avLst/>
          </a:prstGeom>
          <a:solidFill>
            <a:srgbClr val="29B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40080" y="502920"/>
            <a:ext cx="502920" cy="502920"/>
          </a:xfrm>
          <a:prstGeom prst="ellipse">
            <a:avLst/>
          </a:prstGeom>
          <a:solidFill>
            <a:srgbClr val="0D47A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2000" b="1">
                <a:solidFill>
                  <a:srgbClr val="FFFFFF"/>
                </a:solidFill>
                <a:latin typeface="Calibri"/>
              </a:defRPr>
            </a:pPr>
            <a:r>
              <a:t>6</a:t>
            </a:r>
          </a:p>
        </p:txBody>
      </p:sp>
      <p:sp>
        <p:nvSpPr>
          <p:cNvPr id="4" name="TextBox 3"/>
          <p:cNvSpPr txBox="1"/>
          <p:nvPr/>
        </p:nvSpPr>
        <p:spPr>
          <a:xfrm>
            <a:off x="1371600" y="411480"/>
            <a:ext cx="10180289" cy="777240"/>
          </a:xfrm>
          <a:prstGeom prst="rect">
            <a:avLst/>
          </a:prstGeom>
          <a:noFill/>
        </p:spPr>
        <p:txBody>
          <a:bodyPr wrap="square" anchor="ctr">
            <a:spAutoFit/>
          </a:bodyPr>
          <a:lstStyle/>
          <a:p>
            <a:pPr algn="l">
              <a:defRPr sz="2600" b="1">
                <a:solidFill>
                  <a:srgbClr val="0D47A1"/>
                </a:solidFill>
                <a:latin typeface="Century Gothic"/>
              </a:defRPr>
            </a:pPr>
            <a:r>
              <a:t>Raqobatbardoshlik va ustunliklar</a:t>
            </a:r>
          </a:p>
        </p:txBody>
      </p:sp>
      <p:sp>
        <p:nvSpPr>
          <p:cNvPr id="5" name="Rectangle 4"/>
          <p:cNvSpPr/>
          <p:nvPr/>
        </p:nvSpPr>
        <p:spPr>
          <a:xfrm>
            <a:off x="640080" y="1188720"/>
            <a:ext cx="822960" cy="38100"/>
          </a:xfrm>
          <a:prstGeom prst="rect">
            <a:avLst/>
          </a:prstGeom>
          <a:solidFill>
            <a:srgbClr val="29B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17320"/>
            <a:ext cx="10911809" cy="4709160"/>
          </a:xfrm>
          <a:prstGeom prst="rect">
            <a:avLst/>
          </a:prstGeom>
          <a:noFill/>
        </p:spPr>
        <p:txBody>
          <a:bodyPr wrap="square">
            <a:spAutoFit/>
          </a:bodyPr>
          <a:lstStyle/>
          <a:p/>
          <a:p>
            <a:pPr algn="just">
              <a:lnSpc>
                <a:spcPct val="120000"/>
              </a:lnSpc>
              <a:spcAft>
                <a:spcPts val="800"/>
              </a:spcAft>
              <a:defRPr sz="1700">
                <a:solidFill>
                  <a:srgbClr val="162233"/>
                </a:solidFill>
                <a:latin typeface="Calibri"/>
              </a:defRPr>
            </a:pPr>
            <a:r>
              <a:t>Raqobatbardoshlik va ustunliklar Claude’ning asosiy ustunliklari quyidagilardan iborat: (a) Etik xavfsizlik – konstitutsiyaviy AI yondashuvi natijasida “hallucination” darajasi 0.7 % ga tushadi, bu GPT‑4 ning 2.3 % ga nisbatan ancha past; (b) Moslashuvchanlik – Haiku‑dan Opus‑gacha bo‘lgan model portfeli turli hajmdagi mijozlar ehtiyojlariga javob beradi; (c) Korporativ maxfiylik – Mythos modeli ma’lumotlarni mijoz serverida saqlash imkonini beradi, bu esa sog‘liqni saqlash, bank sohalarida muhim afzallik; (d) Integratsiya ekotizimi – Slack, Salesforce, Microsoft Teams, AWS Bedrock kabi platformalar bilan birgalikda “plug‑and‑play” SDK taqdim etiladi; (e) Regulyativ tayyorgarlik – Anthropic AQSh, Yevropa va Singapur regulyatsiyalariga mos keluvchi “audit‑log” va “model‑explainability”</a:t>
            </a:r>
          </a:p>
          <a:p>
            <a:pPr algn="just">
              <a:lnSpc>
                <a:spcPct val="120000"/>
              </a:lnSpc>
              <a:spcAft>
                <a:spcPts val="800"/>
              </a:spcAft>
              <a:defRPr sz="1700">
                <a:solidFill>
                  <a:srgbClr val="162233"/>
                </a:solidFill>
                <a:latin typeface="Calibri"/>
              </a:defRPr>
            </a:pPr>
            <a:r>
              <a:t>funksiyalarini standart sifatida kiritgan.</a:t>
            </a:r>
          </a:p>
          <a:p>
            <a:pPr algn="just">
              <a:lnSpc>
                <a:spcPct val="120000"/>
              </a:lnSpc>
              <a:spcAft>
                <a:spcPts val="800"/>
              </a:spcAft>
              <a:defRPr sz="1700">
                <a:solidFill>
                  <a:srgbClr val="162233"/>
                </a:solidFill>
                <a:latin typeface="Calibri"/>
              </a:defRPr>
            </a:pPr>
            <a:r>
              <a:t>Raqobatchilar orasida OpenAI GPT‑4, Google Gemini, Meta Llama 2 mavjud, lekin ularning ko‘pchiligi etik filtratsiya darajasida Claude’ga nisbatan orqada qoladi. Shuningdek, Claude’ning “self‑alignment” mexanizmi foydalanuvchi teskari aloqasini real‑time o‘rganish imkonini beradi, bu esa modelni doimiy ravishda yaxshilashga yordam beradi.</a:t>
            </a:r>
          </a:p>
        </p:txBody>
      </p:sp>
      <p:sp>
        <p:nvSpPr>
          <p:cNvPr id="7" name="Rectangle 6"/>
          <p:cNvSpPr/>
          <p:nvPr/>
        </p:nvSpPr>
        <p:spPr>
          <a:xfrm>
            <a:off x="548640" y="6355080"/>
            <a:ext cx="11094689" cy="15240"/>
          </a:xfrm>
          <a:prstGeom prst="rect">
            <a:avLst/>
          </a:prstGeom>
          <a:solidFill>
            <a:srgbClr val="9EB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19088"/>
            <a:ext cx="10728929" cy="320040"/>
          </a:xfrm>
          <a:prstGeom prst="rect">
            <a:avLst/>
          </a:prstGeom>
          <a:noFill/>
        </p:spPr>
        <p:txBody>
          <a:bodyPr wrap="none">
            <a:spAutoFit/>
          </a:bodyPr>
          <a:lstStyle/>
          <a:p>
            <a:pPr algn="l">
              <a:defRPr sz="1100">
                <a:solidFill>
                  <a:srgbClr val="7A8BA3"/>
                </a:solidFill>
                <a:latin typeface="Calibri"/>
              </a:defRPr>
            </a:pPr>
            <a:r>
              <a:t>Claude haqida</a:t>
            </a:r>
          </a:p>
        </p:txBody>
      </p:sp>
      <p:sp>
        <p:nvSpPr>
          <p:cNvPr id="9" name="TextBox 8"/>
          <p:cNvSpPr txBox="1"/>
          <p:nvPr/>
        </p:nvSpPr>
        <p:spPr>
          <a:xfrm>
            <a:off x="11094689" y="6419088"/>
            <a:ext cx="548640" cy="320040"/>
          </a:xfrm>
          <a:prstGeom prst="rect">
            <a:avLst/>
          </a:prstGeom>
          <a:noFill/>
        </p:spPr>
        <p:txBody>
          <a:bodyPr wrap="none">
            <a:spAutoFit/>
          </a:bodyPr>
          <a:lstStyle/>
          <a:p>
            <a:pPr algn="r">
              <a:defRPr sz="1100">
                <a:solidFill>
                  <a:srgbClr val="7A8BA3"/>
                </a:solidFill>
                <a:latin typeface="Calibri"/>
              </a:defRPr>
            </a:pPr>
            <a: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9FF"/>
        </a:solidFill>
        <a:effectLst/>
      </p:bgPr>
    </p:bg>
    <p:spTree>
      <p:nvGrpSpPr>
        <p:cNvPr id="1" name=""/>
        <p:cNvGrpSpPr/>
        <p:nvPr/>
      </p:nvGrpSpPr>
      <p:grpSpPr/>
      <p:sp>
        <p:nvSpPr>
          <p:cNvPr id="2" name="Rectangle 1"/>
          <p:cNvSpPr/>
          <p:nvPr/>
        </p:nvSpPr>
        <p:spPr>
          <a:xfrm>
            <a:off x="0" y="0"/>
            <a:ext cx="12191969" cy="128016"/>
          </a:xfrm>
          <a:prstGeom prst="rect">
            <a:avLst/>
          </a:prstGeom>
          <a:solidFill>
            <a:srgbClr val="29B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40080" y="502920"/>
            <a:ext cx="502920" cy="502920"/>
          </a:xfrm>
          <a:prstGeom prst="ellipse">
            <a:avLst/>
          </a:prstGeom>
          <a:solidFill>
            <a:srgbClr val="0D47A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2000" b="1">
                <a:solidFill>
                  <a:srgbClr val="FFFFFF"/>
                </a:solidFill>
                <a:latin typeface="Calibri"/>
              </a:defRPr>
            </a:pPr>
            <a:r>
              <a:t>7</a:t>
            </a:r>
          </a:p>
        </p:txBody>
      </p:sp>
      <p:sp>
        <p:nvSpPr>
          <p:cNvPr id="4" name="TextBox 3"/>
          <p:cNvSpPr txBox="1"/>
          <p:nvPr/>
        </p:nvSpPr>
        <p:spPr>
          <a:xfrm>
            <a:off x="1371600" y="411480"/>
            <a:ext cx="10180289" cy="777240"/>
          </a:xfrm>
          <a:prstGeom prst="rect">
            <a:avLst/>
          </a:prstGeom>
          <a:noFill/>
        </p:spPr>
        <p:txBody>
          <a:bodyPr wrap="square" anchor="ctr">
            <a:spAutoFit/>
          </a:bodyPr>
          <a:lstStyle/>
          <a:p>
            <a:pPr algn="l">
              <a:defRPr sz="2600" b="1">
                <a:solidFill>
                  <a:srgbClr val="0D47A1"/>
                </a:solidFill>
                <a:latin typeface="Century Gothic"/>
              </a:defRPr>
            </a:pPr>
            <a:r>
              <a:t>Amaliyot: real misollar va integratsiyalar</a:t>
            </a:r>
          </a:p>
        </p:txBody>
      </p:sp>
      <p:sp>
        <p:nvSpPr>
          <p:cNvPr id="5" name="Rectangle 4"/>
          <p:cNvSpPr/>
          <p:nvPr/>
        </p:nvSpPr>
        <p:spPr>
          <a:xfrm>
            <a:off x="640080" y="1188720"/>
            <a:ext cx="822960" cy="38100"/>
          </a:xfrm>
          <a:prstGeom prst="rect">
            <a:avLst/>
          </a:prstGeom>
          <a:solidFill>
            <a:srgbClr val="29B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17320"/>
            <a:ext cx="10911809" cy="4709160"/>
          </a:xfrm>
          <a:prstGeom prst="rect">
            <a:avLst/>
          </a:prstGeom>
          <a:noFill/>
        </p:spPr>
        <p:txBody>
          <a:bodyPr wrap="square">
            <a:spAutoFit/>
          </a:bodyPr>
          <a:lstStyle/>
          <a:p/>
          <a:p>
            <a:pPr algn="just">
              <a:lnSpc>
                <a:spcPct val="120000"/>
              </a:lnSpc>
              <a:spcAft>
                <a:spcPts val="900"/>
              </a:spcAft>
              <a:defRPr sz="1800">
                <a:solidFill>
                  <a:srgbClr val="162233"/>
                </a:solidFill>
                <a:latin typeface="Calibri"/>
              </a:defRPr>
            </a:pPr>
            <a:r>
              <a:t>Amaliyot: real misollar va integratsiyalar Claude’ning amaliy qo‘llanilishi bir necha sohada muvaffaqiyatli namoyon bo‘ldi. 2024‑yilda Shopify platformasida Claude Haiku asosida “AI‑assisted product description” funksiyasi joriy qilindi; bu funksiyadan foydalangan sotuvchilar o‘rtacha 15 % ga savdo hajmini oshirdi. IBM Watson‑ga integratsiya qilingan Claude Sonnet kod yozish va test yaratish bo‘yicha 30 % ga tezroq ishlab chiqish siklini ta’minladi. 2025‑yilda “Claude Opus” yordamida 10 mln satrli moliyaviy hisobotni avtomatik tahlil qilish, anomaliyalarni aniqlash va boshqaruvga tavsiyalar berish jarayoni 2 haftadan 2 soatga qisqartirildi.</a:t>
            </a:r>
          </a:p>
          <a:p>
            <a:pPr algn="just">
              <a:lnSpc>
                <a:spcPct val="120000"/>
              </a:lnSpc>
              <a:spcAft>
                <a:spcPts val="900"/>
              </a:spcAft>
              <a:defRPr sz="1800">
                <a:solidFill>
                  <a:srgbClr val="162233"/>
                </a:solidFill>
                <a:latin typeface="Calibri"/>
              </a:defRPr>
            </a:pPr>
            <a:r>
              <a:t>Shuningdek, “Claude Mythos” modelini sog‘liqni saqlash tizimida, masalan, Mayo Clinic’da klinik ma’lumotlarni anonimlashtirish va diagnostik tavsiyalar berish uchun ishlatish natijasida diagnostik xatolik darajasi 12 % ga kamaydi. Bu misollar Claude’ning turli hajmdagi korporativ ehtiyojlarga moslashuvchanligi va yuqori darajadagi xavfsizlik standartlarini saqlab qolishini ko‘rsatadi.</a:t>
            </a:r>
          </a:p>
        </p:txBody>
      </p:sp>
      <p:sp>
        <p:nvSpPr>
          <p:cNvPr id="7" name="Rectangle 6"/>
          <p:cNvSpPr/>
          <p:nvPr/>
        </p:nvSpPr>
        <p:spPr>
          <a:xfrm>
            <a:off x="548640" y="6355080"/>
            <a:ext cx="11094689" cy="15240"/>
          </a:xfrm>
          <a:prstGeom prst="rect">
            <a:avLst/>
          </a:prstGeom>
          <a:solidFill>
            <a:srgbClr val="9EB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19088"/>
            <a:ext cx="10728929" cy="320040"/>
          </a:xfrm>
          <a:prstGeom prst="rect">
            <a:avLst/>
          </a:prstGeom>
          <a:noFill/>
        </p:spPr>
        <p:txBody>
          <a:bodyPr wrap="none">
            <a:spAutoFit/>
          </a:bodyPr>
          <a:lstStyle/>
          <a:p>
            <a:pPr algn="l">
              <a:defRPr sz="1100">
                <a:solidFill>
                  <a:srgbClr val="7A8BA3"/>
                </a:solidFill>
                <a:latin typeface="Calibri"/>
              </a:defRPr>
            </a:pPr>
            <a:r>
              <a:t>Claude haqida</a:t>
            </a:r>
          </a:p>
        </p:txBody>
      </p:sp>
      <p:sp>
        <p:nvSpPr>
          <p:cNvPr id="9" name="TextBox 8"/>
          <p:cNvSpPr txBox="1"/>
          <p:nvPr/>
        </p:nvSpPr>
        <p:spPr>
          <a:xfrm>
            <a:off x="11094689" y="6419088"/>
            <a:ext cx="548640" cy="320040"/>
          </a:xfrm>
          <a:prstGeom prst="rect">
            <a:avLst/>
          </a:prstGeom>
          <a:noFill/>
        </p:spPr>
        <p:txBody>
          <a:bodyPr wrap="none">
            <a:spAutoFit/>
          </a:bodyPr>
          <a:lstStyle/>
          <a:p>
            <a:pPr algn="r">
              <a:defRPr sz="1100">
                <a:solidFill>
                  <a:srgbClr val="7A8BA3"/>
                </a:solidFill>
                <a:latin typeface="Calibri"/>
              </a:defRPr>
            </a:pPr>
            <a:r>
              <a:t>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9FF"/>
        </a:solidFill>
        <a:effectLst/>
      </p:bgPr>
    </p:bg>
    <p:spTree>
      <p:nvGrpSpPr>
        <p:cNvPr id="1" name=""/>
        <p:cNvGrpSpPr/>
        <p:nvPr/>
      </p:nvGrpSpPr>
      <p:grpSpPr/>
      <p:sp>
        <p:nvSpPr>
          <p:cNvPr id="2" name="Rectangle 1"/>
          <p:cNvSpPr/>
          <p:nvPr/>
        </p:nvSpPr>
        <p:spPr>
          <a:xfrm>
            <a:off x="0" y="0"/>
            <a:ext cx="12191969" cy="128016"/>
          </a:xfrm>
          <a:prstGeom prst="rect">
            <a:avLst/>
          </a:prstGeom>
          <a:solidFill>
            <a:srgbClr val="29B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40080" y="502920"/>
            <a:ext cx="502920" cy="502920"/>
          </a:xfrm>
          <a:prstGeom prst="ellipse">
            <a:avLst/>
          </a:prstGeom>
          <a:solidFill>
            <a:srgbClr val="0D47A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2000" b="1">
                <a:solidFill>
                  <a:srgbClr val="FFFFFF"/>
                </a:solidFill>
                <a:latin typeface="Calibri"/>
              </a:defRPr>
            </a:pPr>
            <a:r>
              <a:t>8</a:t>
            </a:r>
          </a:p>
        </p:txBody>
      </p:sp>
      <p:sp>
        <p:nvSpPr>
          <p:cNvPr id="4" name="TextBox 3"/>
          <p:cNvSpPr txBox="1"/>
          <p:nvPr/>
        </p:nvSpPr>
        <p:spPr>
          <a:xfrm>
            <a:off x="1371600" y="411480"/>
            <a:ext cx="10180289" cy="777240"/>
          </a:xfrm>
          <a:prstGeom prst="rect">
            <a:avLst/>
          </a:prstGeom>
          <a:noFill/>
        </p:spPr>
        <p:txBody>
          <a:bodyPr wrap="square" anchor="ctr">
            <a:spAutoFit/>
          </a:bodyPr>
          <a:lstStyle/>
          <a:p>
            <a:pPr algn="l">
              <a:defRPr sz="2600" b="1">
                <a:solidFill>
                  <a:srgbClr val="0D47A1"/>
                </a:solidFill>
                <a:latin typeface="Century Gothic"/>
              </a:defRPr>
            </a:pPr>
            <a:r>
              <a:t>Istiqbollar, xavflar va regulyativ muhit</a:t>
            </a:r>
          </a:p>
        </p:txBody>
      </p:sp>
      <p:sp>
        <p:nvSpPr>
          <p:cNvPr id="5" name="Rectangle 4"/>
          <p:cNvSpPr/>
          <p:nvPr/>
        </p:nvSpPr>
        <p:spPr>
          <a:xfrm>
            <a:off x="640080" y="1188720"/>
            <a:ext cx="822960" cy="38100"/>
          </a:xfrm>
          <a:prstGeom prst="rect">
            <a:avLst/>
          </a:prstGeom>
          <a:solidFill>
            <a:srgbClr val="29B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17320"/>
            <a:ext cx="10911809" cy="4709160"/>
          </a:xfrm>
          <a:prstGeom prst="rect">
            <a:avLst/>
          </a:prstGeom>
          <a:noFill/>
        </p:spPr>
        <p:txBody>
          <a:bodyPr wrap="square">
            <a:spAutoFit/>
          </a:bodyPr>
          <a:lstStyle/>
          <a:p/>
          <a:p>
            <a:pPr algn="just">
              <a:lnSpc>
                <a:spcPct val="120000"/>
              </a:lnSpc>
              <a:spcAft>
                <a:spcPts val="800"/>
              </a:spcAft>
              <a:defRPr sz="1700">
                <a:solidFill>
                  <a:srgbClr val="162233"/>
                </a:solidFill>
                <a:latin typeface="Calibri"/>
              </a:defRPr>
            </a:pPr>
            <a:r>
              <a:t>Istiqbollar, xavflar va regulyativ muhit Claude’ning kelajagi bir nechta omillarga bog‘liq. Birinchidan, regulyativ bosim: 2026‑yilda AQSh federal idoralari Claude’ni cheklashni boshladi, bu esa kompaniyaning savdo strategiyasini Yevropa va Osiyo bozorlariga yo‘naltirishga majbur qiladi. Ikkinchidan, xavfsizlik va etik risklar: konstitutsiyaviy AI yondashuvi xatoliklarni kamaytirsa ham, “adversarial prompt” hujumlari va “prompt injection” xavfi mavjud; Anthropic bu tahdidlarni “red‑team” testlari orqali doimiy ravishda kuzatib boradi. Uchinchidan, texnologik raqobat: OpenAI va Google yangi multimodal modellari (GPT‑5, Gemini 2) chiqarishi Claude’ning bozor ulushini kamaytirishi mumkin.</a:t>
            </a:r>
          </a:p>
          <a:p>
            <a:pPr algn="just">
              <a:lnSpc>
                <a:spcPct val="120000"/>
              </a:lnSpc>
              <a:spcAft>
                <a:spcPts val="800"/>
              </a:spcAft>
              <a:defRPr sz="1700">
                <a:solidFill>
                  <a:srgbClr val="162233"/>
                </a:solidFill>
                <a:latin typeface="Calibri"/>
              </a:defRPr>
            </a:pPr>
            <a:r>
              <a:t>To‘rtinchidan, ishlab chiqish istiqbollari: Claude 4 va kelajakda “Claude Aurora” nomli multimodal, real‑time video‑audio tahlil qobiliyatiga ega model rejalashtirilgan; bu esa telemeditsina, AR/VR va avtomatlashtirilgan xavfsizlik tizimlarida yangi imkoniyatlar yaratadi. Shuningdek, Anthropic “AI‑governance consortium”ga a’zo bo‘lib, sanoat standartlarini belgilashda faol ishtirok etadi, bu esa regulyativ risklarni kamaytiradi. Umuman olganda, Claude’ning muvaffaqiyati texnik innovatsiyalar, etik ishonch va regulyativ moslashuvning uyg‘unligiga bog‘liq bo‘ladi.</a:t>
            </a:r>
          </a:p>
        </p:txBody>
      </p:sp>
      <p:sp>
        <p:nvSpPr>
          <p:cNvPr id="7" name="Rectangle 6"/>
          <p:cNvSpPr/>
          <p:nvPr/>
        </p:nvSpPr>
        <p:spPr>
          <a:xfrm>
            <a:off x="548640" y="6355080"/>
            <a:ext cx="11094689" cy="15240"/>
          </a:xfrm>
          <a:prstGeom prst="rect">
            <a:avLst/>
          </a:prstGeom>
          <a:solidFill>
            <a:srgbClr val="9EB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19088"/>
            <a:ext cx="10728929" cy="320040"/>
          </a:xfrm>
          <a:prstGeom prst="rect">
            <a:avLst/>
          </a:prstGeom>
          <a:noFill/>
        </p:spPr>
        <p:txBody>
          <a:bodyPr wrap="none">
            <a:spAutoFit/>
          </a:bodyPr>
          <a:lstStyle/>
          <a:p>
            <a:pPr algn="l">
              <a:defRPr sz="1100">
                <a:solidFill>
                  <a:srgbClr val="7A8BA3"/>
                </a:solidFill>
                <a:latin typeface="Calibri"/>
              </a:defRPr>
            </a:pPr>
            <a:r>
              <a:t>Claude haqida</a:t>
            </a:r>
          </a:p>
        </p:txBody>
      </p:sp>
      <p:sp>
        <p:nvSpPr>
          <p:cNvPr id="9" name="TextBox 8"/>
          <p:cNvSpPr txBox="1"/>
          <p:nvPr/>
        </p:nvSpPr>
        <p:spPr>
          <a:xfrm>
            <a:off x="11094689" y="6419088"/>
            <a:ext cx="548640" cy="320040"/>
          </a:xfrm>
          <a:prstGeom prst="rect">
            <a:avLst/>
          </a:prstGeom>
          <a:noFill/>
        </p:spPr>
        <p:txBody>
          <a:bodyPr wrap="none">
            <a:spAutoFit/>
          </a:bodyPr>
          <a:lstStyle/>
          <a:p>
            <a:pPr algn="r">
              <a:defRPr sz="1100">
                <a:solidFill>
                  <a:srgbClr val="7A8BA3"/>
                </a:solidFill>
                <a:latin typeface="Calibri"/>
              </a:defRPr>
            </a:pPr>
            <a:r>
              <a:t>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9FF"/>
        </a:solidFill>
        <a:effectLst/>
      </p:bgPr>
    </p:bg>
    <p:spTree>
      <p:nvGrpSpPr>
        <p:cNvPr id="1" name=""/>
        <p:cNvGrpSpPr/>
        <p:nvPr/>
      </p:nvGrpSpPr>
      <p:grpSpPr/>
      <p:sp>
        <p:nvSpPr>
          <p:cNvPr id="2" name="Rectangle 1"/>
          <p:cNvSpPr/>
          <p:nvPr/>
        </p:nvSpPr>
        <p:spPr>
          <a:xfrm>
            <a:off x="0" y="0"/>
            <a:ext cx="12191969" cy="128016"/>
          </a:xfrm>
          <a:prstGeom prst="rect">
            <a:avLst/>
          </a:prstGeom>
          <a:solidFill>
            <a:srgbClr val="29B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40080" y="502920"/>
            <a:ext cx="502920" cy="502920"/>
          </a:xfrm>
          <a:prstGeom prst="ellipse">
            <a:avLst/>
          </a:prstGeom>
          <a:solidFill>
            <a:srgbClr val="0D47A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2000" b="1">
                <a:solidFill>
                  <a:srgbClr val="FFFFFF"/>
                </a:solidFill>
                <a:latin typeface="Calibri"/>
              </a:defRPr>
            </a:pPr>
            <a:r>
              <a:t>9</a:t>
            </a:r>
          </a:p>
        </p:txBody>
      </p:sp>
      <p:sp>
        <p:nvSpPr>
          <p:cNvPr id="4" name="TextBox 3"/>
          <p:cNvSpPr txBox="1"/>
          <p:nvPr/>
        </p:nvSpPr>
        <p:spPr>
          <a:xfrm>
            <a:off x="1371600" y="411480"/>
            <a:ext cx="10180289" cy="777240"/>
          </a:xfrm>
          <a:prstGeom prst="rect">
            <a:avLst/>
          </a:prstGeom>
          <a:noFill/>
        </p:spPr>
        <p:txBody>
          <a:bodyPr wrap="square" anchor="ctr">
            <a:spAutoFit/>
          </a:bodyPr>
          <a:lstStyle/>
          <a:p>
            <a:pPr algn="l">
              <a:defRPr sz="2600" b="1">
                <a:solidFill>
                  <a:srgbClr val="0D47A1"/>
                </a:solidFill>
                <a:latin typeface="Century Gothic"/>
              </a:defRPr>
            </a:pPr>
            <a:r>
              <a:t>Xulosa</a:t>
            </a:r>
          </a:p>
        </p:txBody>
      </p:sp>
      <p:sp>
        <p:nvSpPr>
          <p:cNvPr id="5" name="Rectangle 4"/>
          <p:cNvSpPr/>
          <p:nvPr/>
        </p:nvSpPr>
        <p:spPr>
          <a:xfrm>
            <a:off x="640080" y="1188720"/>
            <a:ext cx="822960" cy="38100"/>
          </a:xfrm>
          <a:prstGeom prst="rect">
            <a:avLst/>
          </a:prstGeom>
          <a:solidFill>
            <a:srgbClr val="29B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17320"/>
            <a:ext cx="10911809" cy="4709160"/>
          </a:xfrm>
          <a:prstGeom prst="rect">
            <a:avLst/>
          </a:prstGeom>
          <a:noFill/>
        </p:spPr>
        <p:txBody>
          <a:bodyPr wrap="square">
            <a:spAutoFit/>
          </a:bodyPr>
          <a:lstStyle/>
          <a:p/>
          <a:p>
            <a:pPr algn="just">
              <a:lnSpc>
                <a:spcPct val="120000"/>
              </a:lnSpc>
              <a:spcAft>
                <a:spcPts val="800"/>
              </a:spcAft>
              <a:defRPr sz="1700">
                <a:solidFill>
                  <a:srgbClr val="162233"/>
                </a:solidFill>
                <a:latin typeface="Calibri"/>
              </a:defRPr>
            </a:pPr>
            <a:r>
              <a:t>Xulosa Claude – konstitutsiyaviy AI yondashuvi orqali etik, xavfsiz va korporativ darajada moslashuvchan til modeli sifatida generativ sun’iy intellekt bozorida o‘ziga xos o‘ringa ega. Modelning turli versiyalari (Haiku, Sonnet, Opus, Mythos) mijozlarning hajmi va maxfiylik talablariga javob beradi, shuningdek, “self‑critique” mexanizmi orqali “hallucination” va zararli kontentni sezilarli darajada kamaytiradi. Bozor hajmi 2023‑yilda $30 milliarddan 2030‑yilgacha $150 milliardga o‘sishi kutilayotgani Claude’ning keng qo‘llanilish sohalarini (mijozlarga xizmat, kod generatsiyasi, kontent yaratish, huquqiy‑moliyaviy tahlil, ta’lim) tasdiqlaydi.</a:t>
            </a:r>
          </a:p>
          <a:p>
            <a:pPr algn="just">
              <a:lnSpc>
                <a:spcPct val="120000"/>
              </a:lnSpc>
              <a:spcAft>
                <a:spcPts val="800"/>
              </a:spcAft>
              <a:defRPr sz="1700">
                <a:solidFill>
                  <a:srgbClr val="162233"/>
                </a:solidFill>
                <a:latin typeface="Calibri"/>
              </a:defRPr>
            </a:pPr>
            <a:r>
              <a:t>Raqobatchilarga nisbatan ustunliklari – etik xavfsizlik, korporativ maxfiylik va keng integratsiya ekotizimi – Claude’ni korporativ mijozlar uchun ishonchli hamkor qiladi. Biroq, regulyativ cheklovlar, xavfsizlik tahdidlari va texnologik raqobat kabi xavflar ham mavjud. Kelajakda multimodal imkoniyatlar, AI‑governance standartlari va doimiy “self‑alignment” takomillashtirish Claude’ning barqaror o‘sishini ta’minlaydi. Natijada, Claude nafaqat bugungi kunda, balki kelgusi yillarda ham sun’iy intellektning etik va amaliy jihatlarini birlashtirgan yetakchi platforma bo‘lib qolishi kutilmoqda.</a:t>
            </a:r>
          </a:p>
        </p:txBody>
      </p:sp>
      <p:sp>
        <p:nvSpPr>
          <p:cNvPr id="7" name="Rectangle 6"/>
          <p:cNvSpPr/>
          <p:nvPr/>
        </p:nvSpPr>
        <p:spPr>
          <a:xfrm>
            <a:off x="548640" y="6355080"/>
            <a:ext cx="11094689" cy="15240"/>
          </a:xfrm>
          <a:prstGeom prst="rect">
            <a:avLst/>
          </a:prstGeom>
          <a:solidFill>
            <a:srgbClr val="9EB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19088"/>
            <a:ext cx="10728929" cy="320040"/>
          </a:xfrm>
          <a:prstGeom prst="rect">
            <a:avLst/>
          </a:prstGeom>
          <a:noFill/>
        </p:spPr>
        <p:txBody>
          <a:bodyPr wrap="none">
            <a:spAutoFit/>
          </a:bodyPr>
          <a:lstStyle/>
          <a:p>
            <a:pPr algn="l">
              <a:defRPr sz="1100">
                <a:solidFill>
                  <a:srgbClr val="7A8BA3"/>
                </a:solidFill>
                <a:latin typeface="Calibri"/>
              </a:defRPr>
            </a:pPr>
            <a:r>
              <a:t>Claude haqida</a:t>
            </a:r>
          </a:p>
        </p:txBody>
      </p:sp>
      <p:sp>
        <p:nvSpPr>
          <p:cNvPr id="9" name="TextBox 8"/>
          <p:cNvSpPr txBox="1"/>
          <p:nvPr/>
        </p:nvSpPr>
        <p:spPr>
          <a:xfrm>
            <a:off x="11094689" y="6419088"/>
            <a:ext cx="548640" cy="320040"/>
          </a:xfrm>
          <a:prstGeom prst="rect">
            <a:avLst/>
          </a:prstGeom>
          <a:noFill/>
        </p:spPr>
        <p:txBody>
          <a:bodyPr wrap="none">
            <a:spAutoFit/>
          </a:bodyPr>
          <a:lstStyle/>
          <a:p>
            <a:pPr algn="r">
              <a:defRPr sz="1100">
                <a:solidFill>
                  <a:srgbClr val="7A8BA3"/>
                </a:solidFill>
                <a:latin typeface="Calibri"/>
              </a:defRPr>
            </a:pPr>
            <a:r>
              <a:t>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gradFill rotWithShape="1">
          <a:gsLst>
            <a:gs pos="0">
              <a:srgbClr val="0D47A1"/>
            </a:gs>
            <a:gs pos="100000">
              <a:srgbClr val="072A5E"/>
            </a:gs>
          </a:gsLst>
          <a:lin scaled="0" ang="8100000"/>
        </a:gradFill>
        <a:effectLst/>
      </p:bgPr>
    </p:bg>
    <p:spTree>
      <p:nvGrpSpPr>
        <p:cNvPr id="1" name=""/>
        <p:cNvGrpSpPr/>
        <p:nvPr/>
      </p:nvGrpSpPr>
      <p:grpSpPr/>
      <p:sp>
        <p:nvSpPr>
          <p:cNvPr id="2" name="Oval 1"/>
          <p:cNvSpPr/>
          <p:nvPr/>
        </p:nvSpPr>
        <p:spPr>
          <a:xfrm>
            <a:off x="9265889" y="3931920"/>
            <a:ext cx="4389120" cy="4389120"/>
          </a:xfrm>
          <a:prstGeom prst="ellipse">
            <a:avLst/>
          </a:prstGeom>
          <a:solidFill>
            <a:srgbClr val="FFFFFF">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97280" y="-1097280"/>
            <a:ext cx="2926080" cy="2926080"/>
          </a:xfrm>
          <a:prstGeom prst="ellipse">
            <a:avLst/>
          </a:prstGeom>
          <a:solidFill>
            <a:srgbClr val="29B6F6">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468880"/>
            <a:ext cx="10363169" cy="1188720"/>
          </a:xfrm>
          <a:prstGeom prst="rect">
            <a:avLst/>
          </a:prstGeom>
          <a:noFill/>
        </p:spPr>
        <p:txBody>
          <a:bodyPr wrap="none">
            <a:spAutoFit/>
          </a:bodyPr>
          <a:lstStyle/>
          <a:p>
            <a:pPr algn="ctr">
              <a:defRPr sz="5400" b="1">
                <a:solidFill>
                  <a:srgbClr val="FFFFFF"/>
                </a:solidFill>
                <a:latin typeface="Century Gothic"/>
              </a:defRPr>
            </a:pPr>
            <a:r>
              <a:t>RAHMAT!</a:t>
            </a:r>
          </a:p>
        </p:txBody>
      </p:sp>
      <p:sp>
        <p:nvSpPr>
          <p:cNvPr id="5" name="Rectangle 4"/>
          <p:cNvSpPr/>
          <p:nvPr/>
        </p:nvSpPr>
        <p:spPr>
          <a:xfrm>
            <a:off x="5410184" y="3429000"/>
            <a:ext cx="1371600" cy="50800"/>
          </a:xfrm>
          <a:prstGeom prst="rect">
            <a:avLst/>
          </a:prstGeom>
          <a:solidFill>
            <a:srgbClr val="29B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3657600"/>
            <a:ext cx="10363169" cy="640080"/>
          </a:xfrm>
          <a:prstGeom prst="rect">
            <a:avLst/>
          </a:prstGeom>
          <a:noFill/>
        </p:spPr>
        <p:txBody>
          <a:bodyPr wrap="none">
            <a:spAutoFit/>
          </a:bodyPr>
          <a:lstStyle/>
          <a:p>
            <a:pPr algn="ctr">
              <a:defRPr sz="2000">
                <a:solidFill>
                  <a:srgbClr val="69CBF8"/>
                </a:solidFill>
                <a:latin typeface="Calibri"/>
              </a:defRPr>
            </a:pPr>
            <a:r>
              <a:t>Claude haqida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